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Today I'll show you how an AI editor — Cursor — handles a real business question, and the few features (Rules, Skills, Commands, Plan mode) that turn it from a chatbot into a real analytics teammate. We're using a fake broadband company called Metromobile and 5 CSV files. By the end you'll have a checklist for using this in your own analytics work.</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question we'll answer with Cursor by the end. Same 5 CSV files, same question — but the answer will change as we layer Rules and Skills on top. Note: data is synthetic, ~50k subscribers, 6 months of events from Oct 2025 to Mar 2026.</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Think of Cursor as VS Code with an agent built in. The agent can read your CSVs, write a Python script, run it, look at the output, and fix it if something goes wrong. That last part — the loop — is what makes it 'agentic' rather than just chat. We're going to use Agent mode mostly. Ask mode is read-only Q&amp;A, Plan mode designs work before doing it.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Most of our day is Agent. I'll switch to Plan once near the end to show how it changes the interaction. Ask is useful when you literally just want to look something up without the agent touching files. You change modes from the dropdown at the bottom of the chat panel.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round adds one Cursor capability and shows the answer changing. Same data, same question — different output as we layer in context.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 about to run this. Watch for: does it split voluntary vs non-payment? Does it caveat the annualization? Spoiler — without a Rule it usually doesn't. That's our motivation for Rules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 a moment to read both columns. Ask the room: who would feel comfortable taking $5M of revenue-at-risk to their CFO? Nobody. The agent doesn't know how Metromobile thinks about churn yet. That's exactly what Rules are for — next slide.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Think of Rules as the things you'd put on a 1-page onboarding doc for a new analyst joining your team. Definitions, naming conventions, how to present numbers. Not the actual SOPs for specific analyses — those are Skills.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I'll type this live. The frontmatter (between the dashes) tells Cursor what kind of rule this is. alwaysApply: true means it loads into every chat. The body is what the AI reads. Notice it's plain English — no special syntax. The biggest mistake people make is writing too much. Five lines beats fifty.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'aha' moment of the demo. The agent didn't get smarter — we just told it once how we think. Five lines, applied to every chat from now on.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Both are markdown files. The difference is when they fire. Rules: every chat, always. Skills: only when the user's question matches the skill's description. Rule of thumb — if you'd want it on every chat about this project, it's a Rule. If it's a specific analysis with multiple steps, it's a Skill.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description is the most important line — that's what the agent matches against. Write it as the question the user would actually type. The body can be as detailed as you want, but cover: steps, required output format, and any unit costs.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Without the skill, the agent would write you a 5-paragraph essay. With the skill, you get the table, the math, and the verdict in the same format every time. That's the value of Skills for repeatable analyses.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Commands cost 30 seconds to create and save you typing the same instruction over and over. Plan mode costs you 30 seconds of reading and saves you 20 minutes of fixing the wrong work. Use Plan when scope is ambiguous or stakes are high — like building a churn-risk score for the first time.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moment of the demo. Same 5 CSVs as the beginning, but the agent now has Metromobile's playbook in front of it. The recommendation comes out structured, with all three options compared. Punchline: don't lead with $2M acquisition. Mix churn prevention and repeat reduction. That's the gap Rules and Skills closed.</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Send students to the repo. Everything we did is there — rules, skills, commands, the script, this deck. Encourage them to fork it and try the demo on their own data.</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377440"/>
            <a:ext cx="10972800" cy="1097280"/>
          </a:xfrm>
          <a:prstGeom prst="rect">
            <a:avLst/>
          </a:prstGeom>
          <a:noFill/>
        </p:spPr>
        <p:txBody>
          <a:bodyPr wrap="square">
            <a:spAutoFit/>
          </a:bodyPr>
          <a:lstStyle/>
          <a:p>
            <a:pPr>
              <a:spcAft>
                <a:spcPts val="600"/>
              </a:spcAft>
              <a:defRPr sz="5400" b="1">
                <a:solidFill>
                  <a:srgbClr val="141B2D"/>
                </a:solidFill>
              </a:defRPr>
            </a:pPr>
            <a:r>
              <a:t>Cursor for Analytics</a:t>
            </a:r>
          </a:p>
        </p:txBody>
      </p:sp>
      <p:sp>
        <p:nvSpPr>
          <p:cNvPr id="3" name="TextBox 2"/>
          <p:cNvSpPr txBox="1"/>
          <p:nvPr/>
        </p:nvSpPr>
        <p:spPr>
          <a:xfrm>
            <a:off x="548640" y="3566160"/>
            <a:ext cx="10972800" cy="914400"/>
          </a:xfrm>
          <a:prstGeom prst="rect">
            <a:avLst/>
          </a:prstGeom>
          <a:noFill/>
        </p:spPr>
        <p:txBody>
          <a:bodyPr wrap="square">
            <a:spAutoFit/>
          </a:bodyPr>
          <a:lstStyle/>
          <a:p>
            <a:pPr>
              <a:spcAft>
                <a:spcPts val="600"/>
              </a:spcAft>
              <a:defRPr sz="2200" b="0">
                <a:solidFill>
                  <a:srgbClr val="6B7280"/>
                </a:solidFill>
              </a:defRPr>
            </a:pPr>
            <a:r>
              <a:t>Walking a $2M business decision with an AI teammate</a:t>
            </a:r>
          </a:p>
        </p:txBody>
      </p:sp>
      <p:sp>
        <p:nvSpPr>
          <p:cNvPr id="4" name="TextBox 3"/>
          <p:cNvSpPr txBox="1"/>
          <p:nvPr/>
        </p:nvSpPr>
        <p:spPr>
          <a:xfrm>
            <a:off x="548640" y="4572000"/>
            <a:ext cx="10972800" cy="457200"/>
          </a:xfrm>
          <a:prstGeom prst="rect">
            <a:avLst/>
          </a:prstGeom>
          <a:noFill/>
        </p:spPr>
        <p:txBody>
          <a:bodyPr wrap="square">
            <a:spAutoFit/>
          </a:bodyPr>
          <a:lstStyle/>
          <a:p>
            <a:pPr>
              <a:spcAft>
                <a:spcPts val="600"/>
              </a:spcAft>
              <a:defRPr sz="1400" b="0">
                <a:solidFill>
                  <a:srgbClr val="2D6CDF"/>
                </a:solidFill>
              </a:defRPr>
            </a:pPr>
            <a:r>
              <a:t>UCLA MSBA · 40 minutes · live demo</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0972800" cy="365760"/>
          </a:xfrm>
          <a:prstGeom prst="rect">
            <a:avLst/>
          </a:prstGeom>
          <a:noFill/>
        </p:spPr>
        <p:txBody>
          <a:bodyPr wrap="none">
            <a:spAutoFit/>
          </a:bodyPr>
          <a:lstStyle/>
          <a:p>
            <a:pPr>
              <a:defRPr sz="1200" b="1">
                <a:solidFill>
                  <a:srgbClr val="2D6CDF"/>
                </a:solidFill>
              </a:defRPr>
            </a:pPr>
            <a:r>
              <a:t>THE SCENARIO</a:t>
            </a:r>
          </a:p>
        </p:txBody>
      </p:sp>
      <p:sp>
        <p:nvSpPr>
          <p:cNvPr id="3" name="TextBox 2"/>
          <p:cNvSpPr txBox="1"/>
          <p:nvPr/>
        </p:nvSpPr>
        <p:spPr>
          <a:xfrm>
            <a:off x="457200" y="640080"/>
            <a:ext cx="11247120" cy="914400"/>
          </a:xfrm>
          <a:prstGeom prst="rect">
            <a:avLst/>
          </a:prstGeom>
          <a:noFill/>
        </p:spPr>
        <p:txBody>
          <a:bodyPr wrap="none">
            <a:spAutoFit/>
          </a:bodyPr>
          <a:lstStyle/>
          <a:p>
            <a:pPr>
              <a:defRPr sz="3000" b="1">
                <a:solidFill>
                  <a:srgbClr val="141B2D"/>
                </a:solidFill>
              </a:defRPr>
            </a:pPr>
            <a:r>
              <a:t>Growth wants $2M for acquisition campaigns. Right call?</a:t>
            </a:r>
          </a:p>
        </p:txBody>
      </p:sp>
      <p:sp>
        <p:nvSpPr>
          <p:cNvPr id="4" name="Rounded Rectangle 3"/>
          <p:cNvSpPr/>
          <p:nvPr/>
        </p:nvSpPr>
        <p:spPr>
          <a:xfrm>
            <a:off x="457200" y="1828800"/>
            <a:ext cx="11247120" cy="1097280"/>
          </a:xfrm>
          <a:prstGeom prst="roundRect">
            <a:avLst>
              <a:gd name="adj" fmla="val 5000"/>
            </a:avLst>
          </a:prstGeom>
          <a:solidFill>
            <a:srgbClr val="EFF4FE"/>
          </a:solidFill>
          <a:ln w="12700">
            <a:solidFill>
              <a:srgbClr val="2D6C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920240"/>
            <a:ext cx="10881360" cy="914400"/>
          </a:xfrm>
          <a:prstGeom prst="rect">
            <a:avLst/>
          </a:prstGeom>
          <a:noFill/>
        </p:spPr>
        <p:txBody>
          <a:bodyPr wrap="square">
            <a:spAutoFit/>
          </a:bodyPr>
          <a:lstStyle/>
          <a:p>
            <a:pPr>
              <a:defRPr sz="1200" b="1">
                <a:solidFill>
                  <a:srgbClr val="2D6CDF"/>
                </a:solidFill>
              </a:defRPr>
            </a:pPr>
            <a:r>
              <a:t>YOUR JOB AS THE NEW ANALYST</a:t>
            </a:r>
          </a:p>
          <a:p>
            <a:pPr>
              <a:defRPr sz="1400">
                <a:solidFill>
                  <a:srgbClr val="333947"/>
                </a:solidFill>
              </a:defRPr>
            </a:pPr>
            <a:r>
              <a:t>Give leadership a data-backed answer using 5 CSV files. By the end of this demo, we'll have one — and you'll know how to do this on your own data.</a:t>
            </a:r>
          </a:p>
        </p:txBody>
      </p:sp>
      <p:sp>
        <p:nvSpPr>
          <p:cNvPr id="6" name="TextBox 5"/>
          <p:cNvSpPr txBox="1"/>
          <p:nvPr/>
        </p:nvSpPr>
        <p:spPr>
          <a:xfrm>
            <a:off x="457200" y="3200400"/>
            <a:ext cx="10972800" cy="457200"/>
          </a:xfrm>
          <a:prstGeom prst="rect">
            <a:avLst/>
          </a:prstGeom>
          <a:noFill/>
        </p:spPr>
        <p:txBody>
          <a:bodyPr wrap="square">
            <a:spAutoFit/>
          </a:bodyPr>
          <a:lstStyle/>
          <a:p>
            <a:pPr>
              <a:spcAft>
                <a:spcPts val="600"/>
              </a:spcAft>
              <a:defRPr sz="1600" b="1">
                <a:solidFill>
                  <a:srgbClr val="141B2D"/>
                </a:solidFill>
              </a:defRPr>
            </a:pPr>
            <a:r>
              <a:t>Metromobile (synthetic broadband ISP) — what we have to work with:</a:t>
            </a:r>
          </a:p>
        </p:txBody>
      </p:sp>
      <p:sp>
        <p:nvSpPr>
          <p:cNvPr id="7" name="TextBox 6"/>
          <p:cNvSpPr txBox="1"/>
          <p:nvPr/>
        </p:nvSpPr>
        <p:spPr>
          <a:xfrm>
            <a:off x="640080" y="3749039"/>
            <a:ext cx="10972800" cy="2468880"/>
          </a:xfrm>
          <a:prstGeom prst="rect">
            <a:avLst/>
          </a:prstGeom>
          <a:noFill/>
        </p:spPr>
        <p:txBody>
          <a:bodyPr wrap="square">
            <a:spAutoFit/>
          </a:bodyPr>
          <a:lstStyle/>
          <a:p>
            <a:pPr>
              <a:spcAft>
                <a:spcPts val="600"/>
              </a:spcAft>
              <a:defRPr sz="1500">
                <a:solidFill>
                  <a:srgbClr val="333947"/>
                </a:solidFill>
              </a:defRPr>
            </a:pPr>
            <a:r>
              <a:t>•  demo_customers.csv  →  50,000 subscribers, monthly revenue, customer lifetime value (CLV)</a:t>
            </a:r>
          </a:p>
          <a:p>
            <a:pPr>
              <a:spcAft>
                <a:spcPts val="600"/>
              </a:spcAft>
              <a:defRPr sz="1500">
                <a:solidFill>
                  <a:srgbClr val="333947"/>
                </a:solidFill>
              </a:defRPr>
            </a:pPr>
            <a:r>
              <a:t>•  demo_churns.csv  →  who left, when, and why (voluntary, non-payment, etc.)</a:t>
            </a:r>
          </a:p>
          <a:p>
            <a:pPr>
              <a:spcAft>
                <a:spcPts val="600"/>
              </a:spcAft>
              <a:defRPr sz="1500">
                <a:solidFill>
                  <a:srgbClr val="333947"/>
                </a:solidFill>
              </a:defRPr>
            </a:pPr>
            <a:r>
              <a:t>•  demo_calls.csv  →  200,000 contact-center calls with repeat-within-7-days flag</a:t>
            </a:r>
          </a:p>
          <a:p>
            <a:pPr>
              <a:spcAft>
                <a:spcPts val="600"/>
              </a:spcAft>
              <a:defRPr sz="1500">
                <a:solidFill>
                  <a:srgbClr val="333947"/>
                </a:solidFill>
              </a:defRPr>
            </a:pPr>
            <a:r>
              <a:t>•  demo_campaigns.csv  →  test vs control acquisition campaigns by ZIP and channel</a:t>
            </a:r>
          </a:p>
          <a:p>
            <a:pPr>
              <a:spcAft>
                <a:spcPts val="600"/>
              </a:spcAft>
              <a:defRPr sz="1500">
                <a:solidFill>
                  <a:srgbClr val="333947"/>
                </a:solidFill>
              </a:defRPr>
            </a:pPr>
            <a:r>
              <a:t>•  demo_market.csv  →  ZIP-level competitive context (does a fiber competitor exist?)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0972800" cy="365760"/>
          </a:xfrm>
          <a:prstGeom prst="rect">
            <a:avLst/>
          </a:prstGeom>
          <a:noFill/>
        </p:spPr>
        <p:txBody>
          <a:bodyPr wrap="none">
            <a:spAutoFit/>
          </a:bodyPr>
          <a:lstStyle/>
          <a:p>
            <a:pPr>
              <a:defRPr sz="1200" b="1">
                <a:solidFill>
                  <a:srgbClr val="2D6CDF"/>
                </a:solidFill>
              </a:defRPr>
            </a:pPr>
            <a:r>
              <a:t>THE TOOL</a:t>
            </a:r>
          </a:p>
        </p:txBody>
      </p:sp>
      <p:sp>
        <p:nvSpPr>
          <p:cNvPr id="3" name="TextBox 2"/>
          <p:cNvSpPr txBox="1"/>
          <p:nvPr/>
        </p:nvSpPr>
        <p:spPr>
          <a:xfrm>
            <a:off x="457200" y="640080"/>
            <a:ext cx="11247120" cy="914400"/>
          </a:xfrm>
          <a:prstGeom prst="rect">
            <a:avLst/>
          </a:prstGeom>
          <a:noFill/>
        </p:spPr>
        <p:txBody>
          <a:bodyPr wrap="none">
            <a:spAutoFit/>
          </a:bodyPr>
          <a:lstStyle/>
          <a:p>
            <a:pPr>
              <a:defRPr sz="3000" b="1">
                <a:solidFill>
                  <a:srgbClr val="141B2D"/>
                </a:solidFill>
              </a:defRPr>
            </a:pPr>
            <a:r>
              <a:t>What is Cursor?</a:t>
            </a:r>
          </a:p>
        </p:txBody>
      </p:sp>
      <p:sp>
        <p:nvSpPr>
          <p:cNvPr id="4" name="TextBox 3"/>
          <p:cNvSpPr txBox="1"/>
          <p:nvPr/>
        </p:nvSpPr>
        <p:spPr>
          <a:xfrm>
            <a:off x="457200" y="1737360"/>
            <a:ext cx="11247120" cy="640080"/>
          </a:xfrm>
          <a:prstGeom prst="rect">
            <a:avLst/>
          </a:prstGeom>
          <a:noFill/>
        </p:spPr>
        <p:txBody>
          <a:bodyPr wrap="square">
            <a:spAutoFit/>
          </a:bodyPr>
          <a:lstStyle/>
          <a:p>
            <a:pPr>
              <a:spcAft>
                <a:spcPts val="600"/>
              </a:spcAft>
              <a:defRPr sz="1800" b="0">
                <a:solidFill>
                  <a:srgbClr val="333947"/>
                </a:solidFill>
              </a:defRPr>
            </a:pPr>
            <a:r>
              <a:t>An AI-powered code/analytics editor with an agent that reads your files, writes Python, runs it, and iterates.</a:t>
            </a:r>
          </a:p>
        </p:txBody>
      </p:sp>
      <p:sp>
        <p:nvSpPr>
          <p:cNvPr id="5" name="Rectangle 4"/>
          <p:cNvSpPr/>
          <p:nvPr/>
        </p:nvSpPr>
        <p:spPr>
          <a:xfrm>
            <a:off x="457200" y="2743200"/>
            <a:ext cx="11247120" cy="18288"/>
          </a:xfrm>
          <a:prstGeom prst="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2926080"/>
            <a:ext cx="3749039" cy="457200"/>
          </a:xfrm>
          <a:prstGeom prst="rect">
            <a:avLst/>
          </a:prstGeom>
          <a:noFill/>
        </p:spPr>
        <p:txBody>
          <a:bodyPr wrap="square">
            <a:spAutoFit/>
          </a:bodyPr>
          <a:lstStyle/>
          <a:p>
            <a:pPr>
              <a:spcAft>
                <a:spcPts val="600"/>
              </a:spcAft>
              <a:defRPr sz="1600" b="1">
                <a:solidFill>
                  <a:srgbClr val="16A34A"/>
                </a:solidFill>
              </a:defRPr>
            </a:pPr>
            <a:r>
              <a:t>It IS</a:t>
            </a:r>
          </a:p>
        </p:txBody>
      </p:sp>
      <p:sp>
        <p:nvSpPr>
          <p:cNvPr id="7" name="TextBox 6"/>
          <p:cNvSpPr txBox="1"/>
          <p:nvPr/>
        </p:nvSpPr>
        <p:spPr>
          <a:xfrm>
            <a:off x="457200" y="3383280"/>
            <a:ext cx="3749039" cy="3200400"/>
          </a:xfrm>
          <a:prstGeom prst="rect">
            <a:avLst/>
          </a:prstGeom>
          <a:noFill/>
        </p:spPr>
        <p:txBody>
          <a:bodyPr wrap="square">
            <a:spAutoFit/>
          </a:bodyPr>
          <a:lstStyle/>
          <a:p>
            <a:pPr>
              <a:spcAft>
                <a:spcPts val="600"/>
              </a:spcAft>
              <a:defRPr sz="1400">
                <a:solidFill>
                  <a:srgbClr val="333947"/>
                </a:solidFill>
              </a:defRPr>
            </a:pPr>
            <a:r>
              <a:t>•  A real editor (VS Code under the hood)</a:t>
            </a:r>
          </a:p>
          <a:p>
            <a:pPr>
              <a:spcAft>
                <a:spcPts val="600"/>
              </a:spcAft>
              <a:defRPr sz="1400">
                <a:solidFill>
                  <a:srgbClr val="333947"/>
                </a:solidFill>
              </a:defRPr>
            </a:pPr>
            <a:r>
              <a:t>•  An agent that can touch your files</a:t>
            </a:r>
          </a:p>
          <a:p>
            <a:pPr>
              <a:spcAft>
                <a:spcPts val="600"/>
              </a:spcAft>
              <a:defRPr sz="1400">
                <a:solidFill>
                  <a:srgbClr val="333947"/>
                </a:solidFill>
              </a:defRPr>
            </a:pPr>
            <a:r>
              <a:t>•  A loop: read → write code → run → fix → iterate</a:t>
            </a:r>
          </a:p>
        </p:txBody>
      </p:sp>
      <p:sp>
        <p:nvSpPr>
          <p:cNvPr id="8" name="TextBox 7"/>
          <p:cNvSpPr txBox="1"/>
          <p:nvPr/>
        </p:nvSpPr>
        <p:spPr>
          <a:xfrm>
            <a:off x="4361688" y="2926080"/>
            <a:ext cx="3749039" cy="457200"/>
          </a:xfrm>
          <a:prstGeom prst="rect">
            <a:avLst/>
          </a:prstGeom>
          <a:noFill/>
        </p:spPr>
        <p:txBody>
          <a:bodyPr wrap="square">
            <a:spAutoFit/>
          </a:bodyPr>
          <a:lstStyle/>
          <a:p>
            <a:pPr>
              <a:spcAft>
                <a:spcPts val="600"/>
              </a:spcAft>
              <a:defRPr sz="1600" b="1">
                <a:solidFill>
                  <a:srgbClr val="DC2626"/>
                </a:solidFill>
              </a:defRPr>
            </a:pPr>
            <a:r>
              <a:t>It is NOT</a:t>
            </a:r>
          </a:p>
        </p:txBody>
      </p:sp>
      <p:sp>
        <p:nvSpPr>
          <p:cNvPr id="9" name="TextBox 8"/>
          <p:cNvSpPr txBox="1"/>
          <p:nvPr/>
        </p:nvSpPr>
        <p:spPr>
          <a:xfrm>
            <a:off x="4361688" y="3383280"/>
            <a:ext cx="3749039" cy="3200400"/>
          </a:xfrm>
          <a:prstGeom prst="rect">
            <a:avLst/>
          </a:prstGeom>
          <a:noFill/>
        </p:spPr>
        <p:txBody>
          <a:bodyPr wrap="square">
            <a:spAutoFit/>
          </a:bodyPr>
          <a:lstStyle/>
          <a:p>
            <a:pPr>
              <a:spcAft>
                <a:spcPts val="600"/>
              </a:spcAft>
              <a:defRPr sz="1400">
                <a:solidFill>
                  <a:srgbClr val="333947"/>
                </a:solidFill>
              </a:defRPr>
            </a:pPr>
            <a:r>
              <a:t>•  Just a chat window</a:t>
            </a:r>
          </a:p>
          <a:p>
            <a:pPr>
              <a:spcAft>
                <a:spcPts val="600"/>
              </a:spcAft>
              <a:defRPr sz="1400">
                <a:solidFill>
                  <a:srgbClr val="333947"/>
                </a:solidFill>
              </a:defRPr>
            </a:pPr>
            <a:r>
              <a:t>•  A magic black box (you tell it what to do)</a:t>
            </a:r>
          </a:p>
          <a:p>
            <a:pPr>
              <a:spcAft>
                <a:spcPts val="600"/>
              </a:spcAft>
              <a:defRPr sz="1400">
                <a:solidFill>
                  <a:srgbClr val="333947"/>
                </a:solidFill>
              </a:defRPr>
            </a:pPr>
            <a:r>
              <a:t>•  A replacement for understanding your data</a:t>
            </a:r>
          </a:p>
        </p:txBody>
      </p:sp>
      <p:sp>
        <p:nvSpPr>
          <p:cNvPr id="10" name="TextBox 9"/>
          <p:cNvSpPr txBox="1"/>
          <p:nvPr/>
        </p:nvSpPr>
        <p:spPr>
          <a:xfrm>
            <a:off x="8266175" y="2926080"/>
            <a:ext cx="3749039" cy="457200"/>
          </a:xfrm>
          <a:prstGeom prst="rect">
            <a:avLst/>
          </a:prstGeom>
          <a:noFill/>
        </p:spPr>
        <p:txBody>
          <a:bodyPr wrap="square">
            <a:spAutoFit/>
          </a:bodyPr>
          <a:lstStyle/>
          <a:p>
            <a:pPr>
              <a:spcAft>
                <a:spcPts val="600"/>
              </a:spcAft>
              <a:defRPr sz="1600" b="1">
                <a:solidFill>
                  <a:srgbClr val="2D6CDF"/>
                </a:solidFill>
              </a:defRPr>
            </a:pPr>
            <a:r>
              <a:t>Today we use</a:t>
            </a:r>
          </a:p>
        </p:txBody>
      </p:sp>
      <p:sp>
        <p:nvSpPr>
          <p:cNvPr id="11" name="TextBox 10"/>
          <p:cNvSpPr txBox="1"/>
          <p:nvPr/>
        </p:nvSpPr>
        <p:spPr>
          <a:xfrm>
            <a:off x="8266175" y="3383280"/>
            <a:ext cx="3749039" cy="3200400"/>
          </a:xfrm>
          <a:prstGeom prst="rect">
            <a:avLst/>
          </a:prstGeom>
          <a:noFill/>
        </p:spPr>
        <p:txBody>
          <a:bodyPr wrap="square">
            <a:spAutoFit/>
          </a:bodyPr>
          <a:lstStyle/>
          <a:p>
            <a:pPr>
              <a:spcAft>
                <a:spcPts val="600"/>
              </a:spcAft>
              <a:defRPr sz="1400">
                <a:solidFill>
                  <a:srgbClr val="333947"/>
                </a:solidFill>
              </a:defRPr>
            </a:pPr>
            <a:r>
              <a:t>•  Agent mode (does work for you)</a:t>
            </a:r>
          </a:p>
          <a:p>
            <a:pPr>
              <a:spcAft>
                <a:spcPts val="600"/>
              </a:spcAft>
              <a:defRPr sz="1400">
                <a:solidFill>
                  <a:srgbClr val="333947"/>
                </a:solidFill>
              </a:defRPr>
            </a:pPr>
            <a:r>
              <a:t>•  Rules (project context)</a:t>
            </a:r>
          </a:p>
          <a:p>
            <a:pPr>
              <a:spcAft>
                <a:spcPts val="600"/>
              </a:spcAft>
              <a:defRPr sz="1400">
                <a:solidFill>
                  <a:srgbClr val="333947"/>
                </a:solidFill>
              </a:defRPr>
            </a:pPr>
            <a:r>
              <a:t>•  Skills (analysis playbooks)</a:t>
            </a:r>
          </a:p>
          <a:p>
            <a:pPr>
              <a:spcAft>
                <a:spcPts val="600"/>
              </a:spcAft>
              <a:defRPr sz="1400">
                <a:solidFill>
                  <a:srgbClr val="333947"/>
                </a:solidFill>
              </a:defRPr>
            </a:pPr>
            <a:r>
              <a:t>•  Commands + Plan mode (bonus)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0972800" cy="365760"/>
          </a:xfrm>
          <a:prstGeom prst="rect">
            <a:avLst/>
          </a:prstGeom>
          <a:noFill/>
        </p:spPr>
        <p:txBody>
          <a:bodyPr wrap="none">
            <a:spAutoFit/>
          </a:bodyPr>
          <a:lstStyle/>
          <a:p>
            <a:pPr>
              <a:defRPr sz="1200" b="1">
                <a:solidFill>
                  <a:srgbClr val="2D6CDF"/>
                </a:solidFill>
              </a:defRPr>
            </a:pPr>
            <a:r>
              <a:t>UI PRIMER</a:t>
            </a:r>
          </a:p>
        </p:txBody>
      </p:sp>
      <p:sp>
        <p:nvSpPr>
          <p:cNvPr id="3" name="TextBox 2"/>
          <p:cNvSpPr txBox="1"/>
          <p:nvPr/>
        </p:nvSpPr>
        <p:spPr>
          <a:xfrm>
            <a:off x="457200" y="640080"/>
            <a:ext cx="11247120" cy="914400"/>
          </a:xfrm>
          <a:prstGeom prst="rect">
            <a:avLst/>
          </a:prstGeom>
          <a:noFill/>
        </p:spPr>
        <p:txBody>
          <a:bodyPr wrap="none">
            <a:spAutoFit/>
          </a:bodyPr>
          <a:lstStyle/>
          <a:p>
            <a:pPr>
              <a:defRPr sz="3000" b="1">
                <a:solidFill>
                  <a:srgbClr val="141B2D"/>
                </a:solidFill>
              </a:defRPr>
            </a:pPr>
            <a:r>
              <a:t>Three chat modes you'll see today</a:t>
            </a:r>
          </a:p>
        </p:txBody>
      </p:sp>
      <p:sp>
        <p:nvSpPr>
          <p:cNvPr id="4" name="TextBox 3"/>
          <p:cNvSpPr txBox="1"/>
          <p:nvPr/>
        </p:nvSpPr>
        <p:spPr>
          <a:xfrm>
            <a:off x="457200" y="1920240"/>
            <a:ext cx="1645920" cy="365760"/>
          </a:xfrm>
          <a:prstGeom prst="rect">
            <a:avLst/>
          </a:prstGeom>
          <a:noFill/>
        </p:spPr>
        <p:txBody>
          <a:bodyPr wrap="square">
            <a:spAutoFit/>
          </a:bodyPr>
          <a:lstStyle/>
          <a:p>
            <a:pPr>
              <a:spcAft>
                <a:spcPts val="600"/>
              </a:spcAft>
              <a:defRPr sz="1400" b="1">
                <a:solidFill>
                  <a:srgbClr val="6B7280"/>
                </a:solidFill>
              </a:defRPr>
            </a:pPr>
            <a:r>
              <a:t>Mode</a:t>
            </a:r>
          </a:p>
        </p:txBody>
      </p:sp>
      <p:sp>
        <p:nvSpPr>
          <p:cNvPr id="5" name="TextBox 4"/>
          <p:cNvSpPr txBox="1"/>
          <p:nvPr/>
        </p:nvSpPr>
        <p:spPr>
          <a:xfrm>
            <a:off x="2194560" y="1920240"/>
            <a:ext cx="4114800" cy="365760"/>
          </a:xfrm>
          <a:prstGeom prst="rect">
            <a:avLst/>
          </a:prstGeom>
          <a:noFill/>
        </p:spPr>
        <p:txBody>
          <a:bodyPr wrap="square">
            <a:spAutoFit/>
          </a:bodyPr>
          <a:lstStyle/>
          <a:p>
            <a:pPr>
              <a:spcAft>
                <a:spcPts val="600"/>
              </a:spcAft>
              <a:defRPr sz="1400" b="1">
                <a:solidFill>
                  <a:srgbClr val="6B7280"/>
                </a:solidFill>
              </a:defRPr>
            </a:pPr>
            <a:r>
              <a:t>What it does</a:t>
            </a:r>
          </a:p>
        </p:txBody>
      </p:sp>
      <p:sp>
        <p:nvSpPr>
          <p:cNvPr id="6" name="TextBox 5"/>
          <p:cNvSpPr txBox="1"/>
          <p:nvPr/>
        </p:nvSpPr>
        <p:spPr>
          <a:xfrm>
            <a:off x="6400800" y="1920240"/>
            <a:ext cx="5303520" cy="365760"/>
          </a:xfrm>
          <a:prstGeom prst="rect">
            <a:avLst/>
          </a:prstGeom>
          <a:noFill/>
        </p:spPr>
        <p:txBody>
          <a:bodyPr wrap="square">
            <a:spAutoFit/>
          </a:bodyPr>
          <a:lstStyle/>
          <a:p>
            <a:pPr>
              <a:spcAft>
                <a:spcPts val="600"/>
              </a:spcAft>
              <a:defRPr sz="1400" b="1">
                <a:solidFill>
                  <a:srgbClr val="6B7280"/>
                </a:solidFill>
              </a:defRPr>
            </a:pPr>
            <a:r>
              <a:t>Example prompt</a:t>
            </a:r>
          </a:p>
        </p:txBody>
      </p:sp>
      <p:sp>
        <p:nvSpPr>
          <p:cNvPr id="7" name="Rectangle 6"/>
          <p:cNvSpPr/>
          <p:nvPr/>
        </p:nvSpPr>
        <p:spPr>
          <a:xfrm>
            <a:off x="457200" y="2331720"/>
            <a:ext cx="11247120" cy="18288"/>
          </a:xfrm>
          <a:prstGeom prst="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2560320"/>
            <a:ext cx="1645920" cy="457200"/>
          </a:xfrm>
          <a:prstGeom prst="rect">
            <a:avLst/>
          </a:prstGeom>
          <a:noFill/>
        </p:spPr>
        <p:txBody>
          <a:bodyPr wrap="square">
            <a:spAutoFit/>
          </a:bodyPr>
          <a:lstStyle/>
          <a:p>
            <a:pPr>
              <a:spcAft>
                <a:spcPts val="600"/>
              </a:spcAft>
              <a:defRPr sz="2200" b="1">
                <a:solidFill>
                  <a:srgbClr val="6B7280"/>
                </a:solidFill>
              </a:defRPr>
            </a:pPr>
            <a:r>
              <a:t>Ask</a:t>
            </a:r>
          </a:p>
        </p:txBody>
      </p:sp>
      <p:sp>
        <p:nvSpPr>
          <p:cNvPr id="9" name="TextBox 8"/>
          <p:cNvSpPr txBox="1"/>
          <p:nvPr/>
        </p:nvSpPr>
        <p:spPr>
          <a:xfrm>
            <a:off x="2194560" y="2560320"/>
            <a:ext cx="4114800" cy="914400"/>
          </a:xfrm>
          <a:prstGeom prst="rect">
            <a:avLst/>
          </a:prstGeom>
          <a:noFill/>
        </p:spPr>
        <p:txBody>
          <a:bodyPr wrap="square">
            <a:spAutoFit/>
          </a:bodyPr>
          <a:lstStyle/>
          <a:p>
            <a:pPr>
              <a:spcAft>
                <a:spcPts val="600"/>
              </a:spcAft>
              <a:defRPr sz="1500" b="0">
                <a:solidFill>
                  <a:srgbClr val="333947"/>
                </a:solidFill>
              </a:defRPr>
            </a:pPr>
            <a:r>
              <a:t>Read-only Q&amp;A about your code or data</a:t>
            </a:r>
          </a:p>
        </p:txBody>
      </p:sp>
      <p:sp>
        <p:nvSpPr>
          <p:cNvPr id="10" name="Rounded Rectangle 9"/>
          <p:cNvSpPr/>
          <p:nvPr/>
        </p:nvSpPr>
        <p:spPr>
          <a:xfrm>
            <a:off x="6400800" y="2514600"/>
            <a:ext cx="5303520" cy="777240"/>
          </a:xfrm>
          <a:prstGeom prst="roundRect">
            <a:avLst>
              <a:gd name="adj" fmla="val 4000"/>
            </a:avLst>
          </a:prstGeom>
          <a:solidFill>
            <a:srgbClr val="F3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37960" y="2606040"/>
            <a:ext cx="5029200" cy="594359"/>
          </a:xfrm>
          <a:prstGeom prst="rect">
            <a:avLst/>
          </a:prstGeom>
          <a:noFill/>
        </p:spPr>
        <p:txBody>
          <a:bodyPr wrap="square">
            <a:spAutoFit/>
          </a:bodyPr>
          <a:lstStyle/>
          <a:p>
            <a:pPr>
              <a:spcAft>
                <a:spcPts val="0"/>
              </a:spcAft>
              <a:defRPr sz="1200">
                <a:solidFill>
                  <a:srgbClr val="1F2937"/>
                </a:solidFill>
                <a:latin typeface="Consolas"/>
              </a:defRPr>
            </a:pPr>
            <a:r>
              <a:t>“What columns does demo_calls.csv have?”</a:t>
            </a:r>
          </a:p>
        </p:txBody>
      </p:sp>
      <p:sp>
        <p:nvSpPr>
          <p:cNvPr id="12" name="TextBox 11"/>
          <p:cNvSpPr txBox="1"/>
          <p:nvPr/>
        </p:nvSpPr>
        <p:spPr>
          <a:xfrm>
            <a:off x="457200" y="3749039"/>
            <a:ext cx="1645920" cy="457200"/>
          </a:xfrm>
          <a:prstGeom prst="rect">
            <a:avLst/>
          </a:prstGeom>
          <a:noFill/>
        </p:spPr>
        <p:txBody>
          <a:bodyPr wrap="square">
            <a:spAutoFit/>
          </a:bodyPr>
          <a:lstStyle/>
          <a:p>
            <a:pPr>
              <a:spcAft>
                <a:spcPts val="600"/>
              </a:spcAft>
              <a:defRPr sz="2200" b="1">
                <a:solidFill>
                  <a:srgbClr val="2D6CDF"/>
                </a:solidFill>
              </a:defRPr>
            </a:pPr>
            <a:r>
              <a:t>Agent</a:t>
            </a:r>
          </a:p>
        </p:txBody>
      </p:sp>
      <p:sp>
        <p:nvSpPr>
          <p:cNvPr id="13" name="TextBox 12"/>
          <p:cNvSpPr txBox="1"/>
          <p:nvPr/>
        </p:nvSpPr>
        <p:spPr>
          <a:xfrm>
            <a:off x="2194560" y="3749039"/>
            <a:ext cx="4114800" cy="914400"/>
          </a:xfrm>
          <a:prstGeom prst="rect">
            <a:avLst/>
          </a:prstGeom>
          <a:noFill/>
        </p:spPr>
        <p:txBody>
          <a:bodyPr wrap="square">
            <a:spAutoFit/>
          </a:bodyPr>
          <a:lstStyle/>
          <a:p>
            <a:pPr>
              <a:spcAft>
                <a:spcPts val="600"/>
              </a:spcAft>
              <a:defRPr sz="1500" b="0">
                <a:solidFill>
                  <a:srgbClr val="333947"/>
                </a:solidFill>
              </a:defRPr>
            </a:pPr>
            <a:r>
              <a:t>Does work: reads files, writes code, runs it, edits</a:t>
            </a:r>
          </a:p>
        </p:txBody>
      </p:sp>
      <p:sp>
        <p:nvSpPr>
          <p:cNvPr id="14" name="Rounded Rectangle 13"/>
          <p:cNvSpPr/>
          <p:nvPr/>
        </p:nvSpPr>
        <p:spPr>
          <a:xfrm>
            <a:off x="6400800" y="3703320"/>
            <a:ext cx="5303520" cy="777240"/>
          </a:xfrm>
          <a:prstGeom prst="roundRect">
            <a:avLst>
              <a:gd name="adj" fmla="val 4000"/>
            </a:avLst>
          </a:prstGeom>
          <a:solidFill>
            <a:srgbClr val="F3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37960" y="3794759"/>
            <a:ext cx="5029200" cy="594359"/>
          </a:xfrm>
          <a:prstGeom prst="rect">
            <a:avLst/>
          </a:prstGeom>
          <a:noFill/>
        </p:spPr>
        <p:txBody>
          <a:bodyPr wrap="square">
            <a:spAutoFit/>
          </a:bodyPr>
          <a:lstStyle/>
          <a:p>
            <a:pPr>
              <a:spcAft>
                <a:spcPts val="0"/>
              </a:spcAft>
              <a:defRPr sz="1200">
                <a:solidFill>
                  <a:srgbClr val="1F2937"/>
                </a:solidFill>
                <a:latin typeface="Consolas"/>
              </a:defRPr>
            </a:pPr>
            <a:r>
              <a:t>“Compute monthly churn rate and explain it.”</a:t>
            </a:r>
          </a:p>
        </p:txBody>
      </p:sp>
      <p:sp>
        <p:nvSpPr>
          <p:cNvPr id="16" name="TextBox 15"/>
          <p:cNvSpPr txBox="1"/>
          <p:nvPr/>
        </p:nvSpPr>
        <p:spPr>
          <a:xfrm>
            <a:off x="457200" y="4937760"/>
            <a:ext cx="1645920" cy="457200"/>
          </a:xfrm>
          <a:prstGeom prst="rect">
            <a:avLst/>
          </a:prstGeom>
          <a:noFill/>
        </p:spPr>
        <p:txBody>
          <a:bodyPr wrap="square">
            <a:spAutoFit/>
          </a:bodyPr>
          <a:lstStyle/>
          <a:p>
            <a:pPr>
              <a:spcAft>
                <a:spcPts val="600"/>
              </a:spcAft>
              <a:defRPr sz="2200" b="1">
                <a:solidFill>
                  <a:srgbClr val="16A34A"/>
                </a:solidFill>
              </a:defRPr>
            </a:pPr>
            <a:r>
              <a:t>Plan</a:t>
            </a:r>
          </a:p>
        </p:txBody>
      </p:sp>
      <p:sp>
        <p:nvSpPr>
          <p:cNvPr id="17" name="TextBox 16"/>
          <p:cNvSpPr txBox="1"/>
          <p:nvPr/>
        </p:nvSpPr>
        <p:spPr>
          <a:xfrm>
            <a:off x="2194560" y="4937760"/>
            <a:ext cx="4114800" cy="914400"/>
          </a:xfrm>
          <a:prstGeom prst="rect">
            <a:avLst/>
          </a:prstGeom>
          <a:noFill/>
        </p:spPr>
        <p:txBody>
          <a:bodyPr wrap="square">
            <a:spAutoFit/>
          </a:bodyPr>
          <a:lstStyle/>
          <a:p>
            <a:pPr>
              <a:spcAft>
                <a:spcPts val="600"/>
              </a:spcAft>
              <a:defRPr sz="1500" b="0">
                <a:solidFill>
                  <a:srgbClr val="333947"/>
                </a:solidFill>
              </a:defRPr>
            </a:pPr>
            <a:r>
              <a:t>Designs a multi-step plan, asks before executing</a:t>
            </a:r>
          </a:p>
        </p:txBody>
      </p:sp>
      <p:sp>
        <p:nvSpPr>
          <p:cNvPr id="18" name="Rounded Rectangle 17"/>
          <p:cNvSpPr/>
          <p:nvPr/>
        </p:nvSpPr>
        <p:spPr>
          <a:xfrm>
            <a:off x="6400800" y="4892040"/>
            <a:ext cx="5303520" cy="777240"/>
          </a:xfrm>
          <a:prstGeom prst="roundRect">
            <a:avLst>
              <a:gd name="adj" fmla="val 4000"/>
            </a:avLst>
          </a:prstGeom>
          <a:solidFill>
            <a:srgbClr val="F3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537960" y="4983480"/>
            <a:ext cx="5029200" cy="594359"/>
          </a:xfrm>
          <a:prstGeom prst="rect">
            <a:avLst/>
          </a:prstGeom>
          <a:noFill/>
        </p:spPr>
        <p:txBody>
          <a:bodyPr wrap="square">
            <a:spAutoFit/>
          </a:bodyPr>
          <a:lstStyle/>
          <a:p>
            <a:pPr>
              <a:spcAft>
                <a:spcPts val="0"/>
              </a:spcAft>
              <a:defRPr sz="1200">
                <a:solidFill>
                  <a:srgbClr val="1F2937"/>
                </a:solidFill>
                <a:latin typeface="Consolas"/>
              </a:defRPr>
            </a:pPr>
            <a:r>
              <a:t>“Plan an analysis to score subscribers by churn risk.”</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0972800" cy="365760"/>
          </a:xfrm>
          <a:prstGeom prst="rect">
            <a:avLst/>
          </a:prstGeom>
          <a:noFill/>
        </p:spPr>
        <p:txBody>
          <a:bodyPr wrap="none">
            <a:spAutoFit/>
          </a:bodyPr>
          <a:lstStyle/>
          <a:p>
            <a:pPr>
              <a:defRPr sz="1200" b="1">
                <a:solidFill>
                  <a:srgbClr val="2D6CDF"/>
                </a:solidFill>
              </a:defRPr>
            </a:pPr>
            <a:r>
              <a:t>AGENDA</a:t>
            </a:r>
          </a:p>
        </p:txBody>
      </p:sp>
      <p:sp>
        <p:nvSpPr>
          <p:cNvPr id="3" name="TextBox 2"/>
          <p:cNvSpPr txBox="1"/>
          <p:nvPr/>
        </p:nvSpPr>
        <p:spPr>
          <a:xfrm>
            <a:off x="457200" y="640080"/>
            <a:ext cx="11247120" cy="914400"/>
          </a:xfrm>
          <a:prstGeom prst="rect">
            <a:avLst/>
          </a:prstGeom>
          <a:noFill/>
        </p:spPr>
        <p:txBody>
          <a:bodyPr wrap="none">
            <a:spAutoFit/>
          </a:bodyPr>
          <a:lstStyle/>
          <a:p>
            <a:pPr>
              <a:defRPr sz="3000" b="1">
                <a:solidFill>
                  <a:srgbClr val="141B2D"/>
                </a:solidFill>
              </a:defRPr>
            </a:pPr>
            <a:r>
              <a:t>The next 40 minutes</a:t>
            </a:r>
          </a:p>
        </p:txBody>
      </p:sp>
      <p:sp>
        <p:nvSpPr>
          <p:cNvPr id="4" name="TextBox 3"/>
          <p:cNvSpPr txBox="1"/>
          <p:nvPr/>
        </p:nvSpPr>
        <p:spPr>
          <a:xfrm>
            <a:off x="457200" y="1737360"/>
            <a:ext cx="1280160" cy="365760"/>
          </a:xfrm>
          <a:prstGeom prst="rect">
            <a:avLst/>
          </a:prstGeom>
          <a:noFill/>
        </p:spPr>
        <p:txBody>
          <a:bodyPr wrap="square">
            <a:spAutoFit/>
          </a:bodyPr>
          <a:lstStyle/>
          <a:p>
            <a:pPr>
              <a:spcAft>
                <a:spcPts val="600"/>
              </a:spcAft>
              <a:defRPr sz="1300" b="1">
                <a:solidFill>
                  <a:srgbClr val="6B7280"/>
                </a:solidFill>
              </a:defRPr>
            </a:pPr>
            <a:r>
              <a:t>Time</a:t>
            </a:r>
          </a:p>
        </p:txBody>
      </p:sp>
      <p:sp>
        <p:nvSpPr>
          <p:cNvPr id="5" name="TextBox 4"/>
          <p:cNvSpPr txBox="1"/>
          <p:nvPr/>
        </p:nvSpPr>
        <p:spPr>
          <a:xfrm>
            <a:off x="1828800" y="1737360"/>
            <a:ext cx="3200400" cy="365760"/>
          </a:xfrm>
          <a:prstGeom prst="rect">
            <a:avLst/>
          </a:prstGeom>
          <a:noFill/>
        </p:spPr>
        <p:txBody>
          <a:bodyPr wrap="square">
            <a:spAutoFit/>
          </a:bodyPr>
          <a:lstStyle/>
          <a:p>
            <a:pPr>
              <a:spcAft>
                <a:spcPts val="600"/>
              </a:spcAft>
              <a:defRPr sz="1300" b="1">
                <a:solidFill>
                  <a:srgbClr val="6B7280"/>
                </a:solidFill>
              </a:defRPr>
            </a:pPr>
            <a:r>
              <a:t>Round</a:t>
            </a:r>
          </a:p>
        </p:txBody>
      </p:sp>
      <p:sp>
        <p:nvSpPr>
          <p:cNvPr id="6" name="TextBox 5"/>
          <p:cNvSpPr txBox="1"/>
          <p:nvPr/>
        </p:nvSpPr>
        <p:spPr>
          <a:xfrm>
            <a:off x="5212080" y="1737360"/>
            <a:ext cx="6400800" cy="365760"/>
          </a:xfrm>
          <a:prstGeom prst="rect">
            <a:avLst/>
          </a:prstGeom>
          <a:noFill/>
        </p:spPr>
        <p:txBody>
          <a:bodyPr wrap="square">
            <a:spAutoFit/>
          </a:bodyPr>
          <a:lstStyle/>
          <a:p>
            <a:pPr>
              <a:spcAft>
                <a:spcPts val="600"/>
              </a:spcAft>
              <a:defRPr sz="1300" b="1">
                <a:solidFill>
                  <a:srgbClr val="6B7280"/>
                </a:solidFill>
              </a:defRPr>
            </a:pPr>
            <a:r>
              <a:t>What students see</a:t>
            </a:r>
          </a:p>
        </p:txBody>
      </p:sp>
      <p:sp>
        <p:nvSpPr>
          <p:cNvPr id="7" name="Rectangle 6"/>
          <p:cNvSpPr/>
          <p:nvPr/>
        </p:nvSpPr>
        <p:spPr>
          <a:xfrm>
            <a:off x="457200" y="2103120"/>
            <a:ext cx="11247120" cy="18288"/>
          </a:xfrm>
          <a:prstGeom prst="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2240280"/>
            <a:ext cx="1280160" cy="457200"/>
          </a:xfrm>
          <a:prstGeom prst="rect">
            <a:avLst/>
          </a:prstGeom>
          <a:noFill/>
        </p:spPr>
        <p:txBody>
          <a:bodyPr wrap="square">
            <a:spAutoFit/>
          </a:bodyPr>
          <a:lstStyle/>
          <a:p>
            <a:pPr>
              <a:spcAft>
                <a:spcPts val="600"/>
              </a:spcAft>
              <a:defRPr sz="1400" b="1">
                <a:solidFill>
                  <a:srgbClr val="2D6CDF"/>
                </a:solidFill>
              </a:defRPr>
            </a:pPr>
            <a:r>
              <a:t>0–5</a:t>
            </a:r>
          </a:p>
        </p:txBody>
      </p:sp>
      <p:sp>
        <p:nvSpPr>
          <p:cNvPr id="9" name="TextBox 8"/>
          <p:cNvSpPr txBox="1"/>
          <p:nvPr/>
        </p:nvSpPr>
        <p:spPr>
          <a:xfrm>
            <a:off x="1828800" y="2240280"/>
            <a:ext cx="3200400" cy="457200"/>
          </a:xfrm>
          <a:prstGeom prst="rect">
            <a:avLst/>
          </a:prstGeom>
          <a:noFill/>
        </p:spPr>
        <p:txBody>
          <a:bodyPr wrap="square">
            <a:spAutoFit/>
          </a:bodyPr>
          <a:lstStyle/>
          <a:p>
            <a:pPr>
              <a:spcAft>
                <a:spcPts val="600"/>
              </a:spcAft>
              <a:defRPr sz="1400" b="1">
                <a:solidFill>
                  <a:srgbClr val="141B2D"/>
                </a:solidFill>
              </a:defRPr>
            </a:pPr>
            <a:r>
              <a:t>Setup</a:t>
            </a:r>
          </a:p>
        </p:txBody>
      </p:sp>
      <p:sp>
        <p:nvSpPr>
          <p:cNvPr id="10" name="TextBox 9"/>
          <p:cNvSpPr txBox="1"/>
          <p:nvPr/>
        </p:nvSpPr>
        <p:spPr>
          <a:xfrm>
            <a:off x="5212080" y="2240280"/>
            <a:ext cx="6400800" cy="457200"/>
          </a:xfrm>
          <a:prstGeom prst="rect">
            <a:avLst/>
          </a:prstGeom>
          <a:noFill/>
        </p:spPr>
        <p:txBody>
          <a:bodyPr wrap="square">
            <a:spAutoFit/>
          </a:bodyPr>
          <a:lstStyle/>
          <a:p>
            <a:pPr>
              <a:spcAft>
                <a:spcPts val="600"/>
              </a:spcAft>
              <a:defRPr sz="1300" b="0">
                <a:solidFill>
                  <a:srgbClr val="333947"/>
                </a:solidFill>
              </a:defRPr>
            </a:pPr>
            <a:r>
              <a:t>Open the 5 CSVs. Quick tour of Cursor.</a:t>
            </a:r>
          </a:p>
        </p:txBody>
      </p:sp>
      <p:sp>
        <p:nvSpPr>
          <p:cNvPr id="11" name="TextBox 10"/>
          <p:cNvSpPr txBox="1"/>
          <p:nvPr/>
        </p:nvSpPr>
        <p:spPr>
          <a:xfrm>
            <a:off x="457200" y="2834640"/>
            <a:ext cx="1280160" cy="457200"/>
          </a:xfrm>
          <a:prstGeom prst="rect">
            <a:avLst/>
          </a:prstGeom>
          <a:noFill/>
        </p:spPr>
        <p:txBody>
          <a:bodyPr wrap="square">
            <a:spAutoFit/>
          </a:bodyPr>
          <a:lstStyle/>
          <a:p>
            <a:pPr>
              <a:spcAft>
                <a:spcPts val="600"/>
              </a:spcAft>
              <a:defRPr sz="1400" b="1">
                <a:solidFill>
                  <a:srgbClr val="2D6CDF"/>
                </a:solidFill>
              </a:defRPr>
            </a:pPr>
            <a:r>
              <a:t>5–13</a:t>
            </a:r>
          </a:p>
        </p:txBody>
      </p:sp>
      <p:sp>
        <p:nvSpPr>
          <p:cNvPr id="12" name="TextBox 11"/>
          <p:cNvSpPr txBox="1"/>
          <p:nvPr/>
        </p:nvSpPr>
        <p:spPr>
          <a:xfrm>
            <a:off x="1828800" y="2834640"/>
            <a:ext cx="3200400" cy="457200"/>
          </a:xfrm>
          <a:prstGeom prst="rect">
            <a:avLst/>
          </a:prstGeom>
          <a:noFill/>
        </p:spPr>
        <p:txBody>
          <a:bodyPr wrap="square">
            <a:spAutoFit/>
          </a:bodyPr>
          <a:lstStyle/>
          <a:p>
            <a:pPr>
              <a:spcAft>
                <a:spcPts val="600"/>
              </a:spcAft>
              <a:defRPr sz="1400" b="1">
                <a:solidFill>
                  <a:srgbClr val="141B2D"/>
                </a:solidFill>
              </a:defRPr>
            </a:pPr>
            <a:r>
              <a:t>Round 1: Raw Agent</a:t>
            </a:r>
          </a:p>
        </p:txBody>
      </p:sp>
      <p:sp>
        <p:nvSpPr>
          <p:cNvPr id="13" name="TextBox 12"/>
          <p:cNvSpPr txBox="1"/>
          <p:nvPr/>
        </p:nvSpPr>
        <p:spPr>
          <a:xfrm>
            <a:off x="5212080" y="2834640"/>
            <a:ext cx="6400800" cy="457200"/>
          </a:xfrm>
          <a:prstGeom prst="rect">
            <a:avLst/>
          </a:prstGeom>
          <a:noFill/>
        </p:spPr>
        <p:txBody>
          <a:bodyPr wrap="square">
            <a:spAutoFit/>
          </a:bodyPr>
          <a:lstStyle/>
          <a:p>
            <a:pPr>
              <a:spcAft>
                <a:spcPts val="600"/>
              </a:spcAft>
              <a:defRPr sz="1300" b="0">
                <a:solidFill>
                  <a:srgbClr val="333947"/>
                </a:solidFill>
              </a:defRPr>
            </a:pPr>
            <a:r>
              <a:t>Ask the agent about churn with no extra context. Critique the answer.</a:t>
            </a:r>
          </a:p>
        </p:txBody>
      </p:sp>
      <p:sp>
        <p:nvSpPr>
          <p:cNvPr id="14" name="TextBox 13"/>
          <p:cNvSpPr txBox="1"/>
          <p:nvPr/>
        </p:nvSpPr>
        <p:spPr>
          <a:xfrm>
            <a:off x="457200" y="3429000"/>
            <a:ext cx="1280160" cy="457200"/>
          </a:xfrm>
          <a:prstGeom prst="rect">
            <a:avLst/>
          </a:prstGeom>
          <a:noFill/>
        </p:spPr>
        <p:txBody>
          <a:bodyPr wrap="square">
            <a:spAutoFit/>
          </a:bodyPr>
          <a:lstStyle/>
          <a:p>
            <a:pPr>
              <a:spcAft>
                <a:spcPts val="600"/>
              </a:spcAft>
              <a:defRPr sz="1400" b="1">
                <a:solidFill>
                  <a:srgbClr val="2D6CDF"/>
                </a:solidFill>
              </a:defRPr>
            </a:pPr>
            <a:r>
              <a:t>13–20</a:t>
            </a:r>
          </a:p>
        </p:txBody>
      </p:sp>
      <p:sp>
        <p:nvSpPr>
          <p:cNvPr id="15" name="TextBox 14"/>
          <p:cNvSpPr txBox="1"/>
          <p:nvPr/>
        </p:nvSpPr>
        <p:spPr>
          <a:xfrm>
            <a:off x="1828800" y="3429000"/>
            <a:ext cx="3200400" cy="457200"/>
          </a:xfrm>
          <a:prstGeom prst="rect">
            <a:avLst/>
          </a:prstGeom>
          <a:noFill/>
        </p:spPr>
        <p:txBody>
          <a:bodyPr wrap="square">
            <a:spAutoFit/>
          </a:bodyPr>
          <a:lstStyle/>
          <a:p>
            <a:pPr>
              <a:spcAft>
                <a:spcPts val="600"/>
              </a:spcAft>
              <a:defRPr sz="1400" b="1">
                <a:solidFill>
                  <a:srgbClr val="141B2D"/>
                </a:solidFill>
              </a:defRPr>
            </a:pPr>
            <a:r>
              <a:t>Round 2: Build a Rule live</a:t>
            </a:r>
          </a:p>
        </p:txBody>
      </p:sp>
      <p:sp>
        <p:nvSpPr>
          <p:cNvPr id="16" name="TextBox 15"/>
          <p:cNvSpPr txBox="1"/>
          <p:nvPr/>
        </p:nvSpPr>
        <p:spPr>
          <a:xfrm>
            <a:off x="5212080" y="3429000"/>
            <a:ext cx="6400800" cy="457200"/>
          </a:xfrm>
          <a:prstGeom prst="rect">
            <a:avLst/>
          </a:prstGeom>
          <a:noFill/>
        </p:spPr>
        <p:txBody>
          <a:bodyPr wrap="square">
            <a:spAutoFit/>
          </a:bodyPr>
          <a:lstStyle/>
          <a:p>
            <a:pPr>
              <a:spcAft>
                <a:spcPts val="600"/>
              </a:spcAft>
              <a:defRPr sz="1300" b="0">
                <a:solidFill>
                  <a:srgbClr val="333947"/>
                </a:solidFill>
              </a:defRPr>
            </a:pPr>
            <a:r>
              <a:t>Add 5 lines of project context. Same prompt, sharper answer.</a:t>
            </a:r>
          </a:p>
        </p:txBody>
      </p:sp>
      <p:sp>
        <p:nvSpPr>
          <p:cNvPr id="17" name="TextBox 16"/>
          <p:cNvSpPr txBox="1"/>
          <p:nvPr/>
        </p:nvSpPr>
        <p:spPr>
          <a:xfrm>
            <a:off x="457200" y="4023360"/>
            <a:ext cx="1280160" cy="457200"/>
          </a:xfrm>
          <a:prstGeom prst="rect">
            <a:avLst/>
          </a:prstGeom>
          <a:noFill/>
        </p:spPr>
        <p:txBody>
          <a:bodyPr wrap="square">
            <a:spAutoFit/>
          </a:bodyPr>
          <a:lstStyle/>
          <a:p>
            <a:pPr>
              <a:spcAft>
                <a:spcPts val="600"/>
              </a:spcAft>
              <a:defRPr sz="1400" b="1">
                <a:solidFill>
                  <a:srgbClr val="2D6CDF"/>
                </a:solidFill>
              </a:defRPr>
            </a:pPr>
            <a:r>
              <a:t>20–28</a:t>
            </a:r>
          </a:p>
        </p:txBody>
      </p:sp>
      <p:sp>
        <p:nvSpPr>
          <p:cNvPr id="18" name="TextBox 17"/>
          <p:cNvSpPr txBox="1"/>
          <p:nvPr/>
        </p:nvSpPr>
        <p:spPr>
          <a:xfrm>
            <a:off x="1828800" y="4023360"/>
            <a:ext cx="3200400" cy="457200"/>
          </a:xfrm>
          <a:prstGeom prst="rect">
            <a:avLst/>
          </a:prstGeom>
          <a:noFill/>
        </p:spPr>
        <p:txBody>
          <a:bodyPr wrap="square">
            <a:spAutoFit/>
          </a:bodyPr>
          <a:lstStyle/>
          <a:p>
            <a:pPr>
              <a:spcAft>
                <a:spcPts val="600"/>
              </a:spcAft>
              <a:defRPr sz="1400" b="1">
                <a:solidFill>
                  <a:srgbClr val="141B2D"/>
                </a:solidFill>
              </a:defRPr>
            </a:pPr>
            <a:r>
              <a:t>Round 3: Build a Skill live</a:t>
            </a:r>
          </a:p>
        </p:txBody>
      </p:sp>
      <p:sp>
        <p:nvSpPr>
          <p:cNvPr id="19" name="TextBox 18"/>
          <p:cNvSpPr txBox="1"/>
          <p:nvPr/>
        </p:nvSpPr>
        <p:spPr>
          <a:xfrm>
            <a:off x="5212080" y="4023360"/>
            <a:ext cx="6400800" cy="457200"/>
          </a:xfrm>
          <a:prstGeom prst="rect">
            <a:avLst/>
          </a:prstGeom>
          <a:noFill/>
        </p:spPr>
        <p:txBody>
          <a:bodyPr wrap="square">
            <a:spAutoFit/>
          </a:bodyPr>
          <a:lstStyle/>
          <a:p>
            <a:pPr>
              <a:spcAft>
                <a:spcPts val="600"/>
              </a:spcAft>
              <a:defRPr sz="1300" b="0">
                <a:solidFill>
                  <a:srgbClr val="333947"/>
                </a:solidFill>
              </a:defRPr>
            </a:pPr>
            <a:r>
              <a:t>Add a campaign-ROI playbook. Ask the $2M question.</a:t>
            </a:r>
          </a:p>
        </p:txBody>
      </p:sp>
      <p:sp>
        <p:nvSpPr>
          <p:cNvPr id="20" name="TextBox 19"/>
          <p:cNvSpPr txBox="1"/>
          <p:nvPr/>
        </p:nvSpPr>
        <p:spPr>
          <a:xfrm>
            <a:off x="457200" y="4617720"/>
            <a:ext cx="1280160" cy="457200"/>
          </a:xfrm>
          <a:prstGeom prst="rect">
            <a:avLst/>
          </a:prstGeom>
          <a:noFill/>
        </p:spPr>
        <p:txBody>
          <a:bodyPr wrap="square">
            <a:spAutoFit/>
          </a:bodyPr>
          <a:lstStyle/>
          <a:p>
            <a:pPr>
              <a:spcAft>
                <a:spcPts val="600"/>
              </a:spcAft>
              <a:defRPr sz="1400" b="1">
                <a:solidFill>
                  <a:srgbClr val="2D6CDF"/>
                </a:solidFill>
              </a:defRPr>
            </a:pPr>
            <a:r>
              <a:t>28–33</a:t>
            </a:r>
          </a:p>
        </p:txBody>
      </p:sp>
      <p:sp>
        <p:nvSpPr>
          <p:cNvPr id="21" name="TextBox 20"/>
          <p:cNvSpPr txBox="1"/>
          <p:nvPr/>
        </p:nvSpPr>
        <p:spPr>
          <a:xfrm>
            <a:off x="1828800" y="4617720"/>
            <a:ext cx="3200400" cy="457200"/>
          </a:xfrm>
          <a:prstGeom prst="rect">
            <a:avLst/>
          </a:prstGeom>
          <a:noFill/>
        </p:spPr>
        <p:txBody>
          <a:bodyPr wrap="square">
            <a:spAutoFit/>
          </a:bodyPr>
          <a:lstStyle/>
          <a:p>
            <a:pPr>
              <a:spcAft>
                <a:spcPts val="600"/>
              </a:spcAft>
              <a:defRPr sz="1400" b="1">
                <a:solidFill>
                  <a:srgbClr val="141B2D"/>
                </a:solidFill>
              </a:defRPr>
            </a:pPr>
            <a:r>
              <a:t>Round 4: Commands + Plan mode</a:t>
            </a:r>
          </a:p>
        </p:txBody>
      </p:sp>
      <p:sp>
        <p:nvSpPr>
          <p:cNvPr id="22" name="TextBox 21"/>
          <p:cNvSpPr txBox="1"/>
          <p:nvPr/>
        </p:nvSpPr>
        <p:spPr>
          <a:xfrm>
            <a:off x="5212080" y="4617720"/>
            <a:ext cx="6400800" cy="457200"/>
          </a:xfrm>
          <a:prstGeom prst="rect">
            <a:avLst/>
          </a:prstGeom>
          <a:noFill/>
        </p:spPr>
        <p:txBody>
          <a:bodyPr wrap="square">
            <a:spAutoFit/>
          </a:bodyPr>
          <a:lstStyle/>
          <a:p>
            <a:pPr>
              <a:spcAft>
                <a:spcPts val="600"/>
              </a:spcAft>
              <a:defRPr sz="1300" b="0">
                <a:solidFill>
                  <a:srgbClr val="333947"/>
                </a:solidFill>
              </a:defRPr>
            </a:pPr>
            <a:r>
              <a:t>Make a /recap button. Use Plan mode on a complex task.</a:t>
            </a:r>
          </a:p>
        </p:txBody>
      </p:sp>
      <p:sp>
        <p:nvSpPr>
          <p:cNvPr id="23" name="TextBox 22"/>
          <p:cNvSpPr txBox="1"/>
          <p:nvPr/>
        </p:nvSpPr>
        <p:spPr>
          <a:xfrm>
            <a:off x="457200" y="5212080"/>
            <a:ext cx="1280160" cy="457200"/>
          </a:xfrm>
          <a:prstGeom prst="rect">
            <a:avLst/>
          </a:prstGeom>
          <a:noFill/>
        </p:spPr>
        <p:txBody>
          <a:bodyPr wrap="square">
            <a:spAutoFit/>
          </a:bodyPr>
          <a:lstStyle/>
          <a:p>
            <a:pPr>
              <a:spcAft>
                <a:spcPts val="600"/>
              </a:spcAft>
              <a:defRPr sz="1400" b="1">
                <a:solidFill>
                  <a:srgbClr val="2D6CDF"/>
                </a:solidFill>
              </a:defRPr>
            </a:pPr>
            <a:r>
              <a:t>33–38</a:t>
            </a:r>
          </a:p>
        </p:txBody>
      </p:sp>
      <p:sp>
        <p:nvSpPr>
          <p:cNvPr id="24" name="TextBox 23"/>
          <p:cNvSpPr txBox="1"/>
          <p:nvPr/>
        </p:nvSpPr>
        <p:spPr>
          <a:xfrm>
            <a:off x="1828800" y="5212080"/>
            <a:ext cx="3200400" cy="457200"/>
          </a:xfrm>
          <a:prstGeom prst="rect">
            <a:avLst/>
          </a:prstGeom>
          <a:noFill/>
        </p:spPr>
        <p:txBody>
          <a:bodyPr wrap="square">
            <a:spAutoFit/>
          </a:bodyPr>
          <a:lstStyle/>
          <a:p>
            <a:pPr>
              <a:spcAft>
                <a:spcPts val="600"/>
              </a:spcAft>
              <a:defRPr sz="1400" b="1">
                <a:solidFill>
                  <a:srgbClr val="141B2D"/>
                </a:solidFill>
              </a:defRPr>
            </a:pPr>
            <a:r>
              <a:t>Round 5: The $2M finale</a:t>
            </a:r>
          </a:p>
        </p:txBody>
      </p:sp>
      <p:sp>
        <p:nvSpPr>
          <p:cNvPr id="25" name="TextBox 24"/>
          <p:cNvSpPr txBox="1"/>
          <p:nvPr/>
        </p:nvSpPr>
        <p:spPr>
          <a:xfrm>
            <a:off x="5212080" y="5212080"/>
            <a:ext cx="6400800" cy="457200"/>
          </a:xfrm>
          <a:prstGeom prst="rect">
            <a:avLst/>
          </a:prstGeom>
          <a:noFill/>
        </p:spPr>
        <p:txBody>
          <a:bodyPr wrap="square">
            <a:spAutoFit/>
          </a:bodyPr>
          <a:lstStyle/>
          <a:p>
            <a:pPr>
              <a:spcAft>
                <a:spcPts val="600"/>
              </a:spcAft>
              <a:defRPr sz="1300" b="0">
                <a:solidFill>
                  <a:srgbClr val="333947"/>
                </a:solidFill>
              </a:defRPr>
            </a:pPr>
            <a:r>
              <a:t>Load 3 more skills. Get the recommendation.</a:t>
            </a:r>
          </a:p>
        </p:txBody>
      </p:sp>
      <p:sp>
        <p:nvSpPr>
          <p:cNvPr id="26" name="TextBox 25"/>
          <p:cNvSpPr txBox="1"/>
          <p:nvPr/>
        </p:nvSpPr>
        <p:spPr>
          <a:xfrm>
            <a:off x="457200" y="5806440"/>
            <a:ext cx="1280160" cy="457200"/>
          </a:xfrm>
          <a:prstGeom prst="rect">
            <a:avLst/>
          </a:prstGeom>
          <a:noFill/>
        </p:spPr>
        <p:txBody>
          <a:bodyPr wrap="square">
            <a:spAutoFit/>
          </a:bodyPr>
          <a:lstStyle/>
          <a:p>
            <a:pPr>
              <a:spcAft>
                <a:spcPts val="600"/>
              </a:spcAft>
              <a:defRPr sz="1400" b="1">
                <a:solidFill>
                  <a:srgbClr val="2D6CDF"/>
                </a:solidFill>
              </a:defRPr>
            </a:pPr>
            <a:r>
              <a:t>38–40</a:t>
            </a:r>
          </a:p>
        </p:txBody>
      </p:sp>
      <p:sp>
        <p:nvSpPr>
          <p:cNvPr id="27" name="TextBox 26"/>
          <p:cNvSpPr txBox="1"/>
          <p:nvPr/>
        </p:nvSpPr>
        <p:spPr>
          <a:xfrm>
            <a:off x="1828800" y="5806440"/>
            <a:ext cx="3200400" cy="457200"/>
          </a:xfrm>
          <a:prstGeom prst="rect">
            <a:avLst/>
          </a:prstGeom>
          <a:noFill/>
        </p:spPr>
        <p:txBody>
          <a:bodyPr wrap="square">
            <a:spAutoFit/>
          </a:bodyPr>
          <a:lstStyle/>
          <a:p>
            <a:pPr>
              <a:spcAft>
                <a:spcPts val="600"/>
              </a:spcAft>
              <a:defRPr sz="1400" b="1">
                <a:solidFill>
                  <a:srgbClr val="141B2D"/>
                </a:solidFill>
              </a:defRPr>
            </a:pPr>
            <a:r>
              <a:t>Take-home</a:t>
            </a:r>
          </a:p>
        </p:txBody>
      </p:sp>
      <p:sp>
        <p:nvSpPr>
          <p:cNvPr id="28" name="TextBox 27"/>
          <p:cNvSpPr txBox="1"/>
          <p:nvPr/>
        </p:nvSpPr>
        <p:spPr>
          <a:xfrm>
            <a:off x="5212080" y="5806440"/>
            <a:ext cx="6400800" cy="457200"/>
          </a:xfrm>
          <a:prstGeom prst="rect">
            <a:avLst/>
          </a:prstGeom>
          <a:noFill/>
        </p:spPr>
        <p:txBody>
          <a:bodyPr wrap="square">
            <a:spAutoFit/>
          </a:bodyPr>
          <a:lstStyle/>
          <a:p>
            <a:pPr>
              <a:spcAft>
                <a:spcPts val="600"/>
              </a:spcAft>
              <a:defRPr sz="1300" b="0">
                <a:solidFill>
                  <a:srgbClr val="333947"/>
                </a:solidFill>
              </a:defRPr>
            </a:pPr>
            <a:r>
              <a:t>Five things to do in your own projects this week.</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0972800" cy="365760"/>
          </a:xfrm>
          <a:prstGeom prst="rect">
            <a:avLst/>
          </a:prstGeom>
          <a:noFill/>
        </p:spPr>
        <p:txBody>
          <a:bodyPr wrap="none">
            <a:spAutoFit/>
          </a:bodyPr>
          <a:lstStyle/>
          <a:p>
            <a:pPr>
              <a:defRPr sz="1200" b="1">
                <a:solidFill>
                  <a:srgbClr val="2D6CDF"/>
                </a:solidFill>
              </a:defRPr>
            </a:pPr>
            <a:r>
              <a:t>ROUND 1 OF 5 · RAW AGENT</a:t>
            </a:r>
          </a:p>
        </p:txBody>
      </p:sp>
      <p:sp>
        <p:nvSpPr>
          <p:cNvPr id="3" name="TextBox 2"/>
          <p:cNvSpPr txBox="1"/>
          <p:nvPr/>
        </p:nvSpPr>
        <p:spPr>
          <a:xfrm>
            <a:off x="457200" y="640080"/>
            <a:ext cx="11247120" cy="914400"/>
          </a:xfrm>
          <a:prstGeom prst="rect">
            <a:avLst/>
          </a:prstGeom>
          <a:noFill/>
        </p:spPr>
        <p:txBody>
          <a:bodyPr wrap="none">
            <a:spAutoFit/>
          </a:bodyPr>
          <a:lstStyle/>
          <a:p>
            <a:pPr>
              <a:defRPr sz="3000" b="1">
                <a:solidFill>
                  <a:srgbClr val="141B2D"/>
                </a:solidFill>
              </a:defRPr>
            </a:pPr>
            <a:r>
              <a:t>Just ask the AI — no rules, no skills</a:t>
            </a:r>
          </a:p>
        </p:txBody>
      </p:sp>
      <p:sp>
        <p:nvSpPr>
          <p:cNvPr id="4" name="TextBox 3"/>
          <p:cNvSpPr txBox="1"/>
          <p:nvPr/>
        </p:nvSpPr>
        <p:spPr>
          <a:xfrm>
            <a:off x="457200" y="1737360"/>
            <a:ext cx="11247120" cy="365760"/>
          </a:xfrm>
          <a:prstGeom prst="rect">
            <a:avLst/>
          </a:prstGeom>
          <a:noFill/>
        </p:spPr>
        <p:txBody>
          <a:bodyPr wrap="square">
            <a:spAutoFit/>
          </a:bodyPr>
          <a:lstStyle/>
          <a:p>
            <a:pPr>
              <a:spcAft>
                <a:spcPts val="600"/>
              </a:spcAft>
              <a:defRPr sz="1500" b="1">
                <a:solidFill>
                  <a:srgbClr val="141B2D"/>
                </a:solidFill>
              </a:defRPr>
            </a:pPr>
            <a:r>
              <a:t>The prompt I'm about to paste:</a:t>
            </a:r>
          </a:p>
        </p:txBody>
      </p:sp>
      <p:sp>
        <p:nvSpPr>
          <p:cNvPr id="5" name="Rounded Rectangle 4"/>
          <p:cNvSpPr/>
          <p:nvPr/>
        </p:nvSpPr>
        <p:spPr>
          <a:xfrm>
            <a:off x="457200" y="2194560"/>
            <a:ext cx="11247120" cy="1463040"/>
          </a:xfrm>
          <a:prstGeom prst="roundRect">
            <a:avLst>
              <a:gd name="adj" fmla="val 4000"/>
            </a:avLst>
          </a:prstGeom>
          <a:solidFill>
            <a:srgbClr val="F3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2286000"/>
            <a:ext cx="10972800" cy="1280160"/>
          </a:xfrm>
          <a:prstGeom prst="rect">
            <a:avLst/>
          </a:prstGeom>
          <a:noFill/>
        </p:spPr>
        <p:txBody>
          <a:bodyPr wrap="square">
            <a:spAutoFit/>
          </a:bodyPr>
          <a:lstStyle/>
          <a:p>
            <a:pPr>
              <a:spcAft>
                <a:spcPts val="0"/>
              </a:spcAft>
              <a:defRPr sz="1500">
                <a:solidFill>
                  <a:srgbClr val="1F2937"/>
                </a:solidFill>
                <a:latin typeface="Consolas"/>
              </a:defRPr>
            </a:pPr>
            <a:r>
              <a:t>How many customers churned in the last 3 months?</a:t>
            </a:r>
          </a:p>
          <a:p>
            <a:pPr>
              <a:spcAft>
                <a:spcPts val="0"/>
              </a:spcAft>
              <a:defRPr sz="1500">
                <a:solidFill>
                  <a:srgbClr val="1F2937"/>
                </a:solidFill>
                <a:latin typeface="Consolas"/>
              </a:defRPr>
            </a:pPr>
            <a:r>
              <a:t>What is the monthly churn rate? What is the total annual</a:t>
            </a:r>
          </a:p>
          <a:p>
            <a:pPr>
              <a:spcAft>
                <a:spcPts val="0"/>
              </a:spcAft>
              <a:defRPr sz="1500">
                <a:solidFill>
                  <a:srgbClr val="1F2937"/>
                </a:solidFill>
                <a:latin typeface="Consolas"/>
              </a:defRPr>
            </a:pPr>
            <a:r>
              <a:t>revenue at risk if this continues?</a:t>
            </a:r>
          </a:p>
        </p:txBody>
      </p:sp>
      <p:sp>
        <p:nvSpPr>
          <p:cNvPr id="7" name="TextBox 6"/>
          <p:cNvSpPr txBox="1"/>
          <p:nvPr/>
        </p:nvSpPr>
        <p:spPr>
          <a:xfrm>
            <a:off x="457200" y="3931920"/>
            <a:ext cx="11247120" cy="457200"/>
          </a:xfrm>
          <a:prstGeom prst="rect">
            <a:avLst/>
          </a:prstGeom>
          <a:noFill/>
        </p:spPr>
        <p:txBody>
          <a:bodyPr wrap="square">
            <a:spAutoFit/>
          </a:bodyPr>
          <a:lstStyle/>
          <a:p>
            <a:pPr>
              <a:spcAft>
                <a:spcPts val="600"/>
              </a:spcAft>
              <a:defRPr sz="1500" b="1">
                <a:solidFill>
                  <a:srgbClr val="141B2D"/>
                </a:solidFill>
              </a:defRPr>
            </a:pPr>
            <a:r>
              <a:t>What I expect the agent to do:</a:t>
            </a:r>
          </a:p>
        </p:txBody>
      </p:sp>
      <p:sp>
        <p:nvSpPr>
          <p:cNvPr id="8" name="TextBox 7"/>
          <p:cNvSpPr txBox="1"/>
          <p:nvPr/>
        </p:nvSpPr>
        <p:spPr>
          <a:xfrm>
            <a:off x="640080" y="4389120"/>
            <a:ext cx="10972800" cy="1645920"/>
          </a:xfrm>
          <a:prstGeom prst="rect">
            <a:avLst/>
          </a:prstGeom>
          <a:noFill/>
        </p:spPr>
        <p:txBody>
          <a:bodyPr wrap="square">
            <a:spAutoFit/>
          </a:bodyPr>
          <a:lstStyle/>
          <a:p>
            <a:pPr>
              <a:spcAft>
                <a:spcPts val="600"/>
              </a:spcAft>
              <a:defRPr sz="1400">
                <a:solidFill>
                  <a:srgbClr val="333947"/>
                </a:solidFill>
              </a:defRPr>
            </a:pPr>
            <a:r>
              <a:t>•  Load demo_churns.csv. Count churn events in the last 3 months. Maybe ~5,000.</a:t>
            </a:r>
          </a:p>
          <a:p>
            <a:pPr>
              <a:spcAft>
                <a:spcPts val="600"/>
              </a:spcAft>
              <a:defRPr sz="1400">
                <a:solidFill>
                  <a:srgbClr val="333947"/>
                </a:solidFill>
              </a:defRPr>
            </a:pPr>
            <a:r>
              <a:t>•  Divide by total customers to get a monthly rate (~3%).</a:t>
            </a:r>
          </a:p>
          <a:p>
            <a:pPr>
              <a:spcAft>
                <a:spcPts val="600"/>
              </a:spcAft>
              <a:defRPr sz="1400">
                <a:solidFill>
                  <a:srgbClr val="333947"/>
                </a:solidFill>
              </a:defRPr>
            </a:pPr>
            <a:r>
              <a:t>•  Multiply monthly revenue lost × 12 to get an 'annual revenue at risk' number.</a:t>
            </a:r>
          </a:p>
          <a:p>
            <a:pPr>
              <a:spcAft>
                <a:spcPts val="600"/>
              </a:spcAft>
              <a:defRPr sz="1400">
                <a:solidFill>
                  <a:srgbClr val="333947"/>
                </a:solidFill>
              </a:defRPr>
            </a:pPr>
            <a:r>
              <a:t>•  Probably treat all disconnect_types the same. Probably no caveats. Big scary headline.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0972800" cy="365760"/>
          </a:xfrm>
          <a:prstGeom prst="rect">
            <a:avLst/>
          </a:prstGeom>
          <a:noFill/>
        </p:spPr>
        <p:txBody>
          <a:bodyPr wrap="none">
            <a:spAutoFit/>
          </a:bodyPr>
          <a:lstStyle/>
          <a:p>
            <a:pPr>
              <a:defRPr sz="1200" b="1">
                <a:solidFill>
                  <a:srgbClr val="2D6CDF"/>
                </a:solidFill>
              </a:defRPr>
            </a:pPr>
            <a:r>
              <a:t>ROUND 1 DEBRIEF</a:t>
            </a:r>
          </a:p>
        </p:txBody>
      </p:sp>
      <p:sp>
        <p:nvSpPr>
          <p:cNvPr id="3" name="TextBox 2"/>
          <p:cNvSpPr txBox="1"/>
          <p:nvPr/>
        </p:nvSpPr>
        <p:spPr>
          <a:xfrm>
            <a:off x="457200" y="640080"/>
            <a:ext cx="11247120" cy="914400"/>
          </a:xfrm>
          <a:prstGeom prst="rect">
            <a:avLst/>
          </a:prstGeom>
          <a:noFill/>
        </p:spPr>
        <p:txBody>
          <a:bodyPr wrap="none">
            <a:spAutoFit/>
          </a:bodyPr>
          <a:lstStyle/>
          <a:p>
            <a:pPr>
              <a:defRPr sz="3000" b="1">
                <a:solidFill>
                  <a:srgbClr val="141B2D"/>
                </a:solidFill>
              </a:defRPr>
            </a:pPr>
            <a:r>
              <a:t>What the raw answer missed</a:t>
            </a:r>
          </a:p>
        </p:txBody>
      </p:sp>
      <p:sp>
        <p:nvSpPr>
          <p:cNvPr id="4" name="TextBox 3"/>
          <p:cNvSpPr txBox="1"/>
          <p:nvPr/>
        </p:nvSpPr>
        <p:spPr>
          <a:xfrm>
            <a:off x="457200" y="1737360"/>
            <a:ext cx="5486400" cy="365760"/>
          </a:xfrm>
          <a:prstGeom prst="rect">
            <a:avLst/>
          </a:prstGeom>
          <a:noFill/>
        </p:spPr>
        <p:txBody>
          <a:bodyPr wrap="square">
            <a:spAutoFit/>
          </a:bodyPr>
          <a:lstStyle/>
          <a:p>
            <a:pPr>
              <a:spcAft>
                <a:spcPts val="600"/>
              </a:spcAft>
              <a:defRPr sz="1500" b="1">
                <a:solidFill>
                  <a:srgbClr val="6B7280"/>
                </a:solidFill>
              </a:defRPr>
            </a:pPr>
            <a:r>
              <a:t>Likely raw answer</a:t>
            </a:r>
          </a:p>
        </p:txBody>
      </p:sp>
      <p:sp>
        <p:nvSpPr>
          <p:cNvPr id="5" name="Rounded Rectangle 4"/>
          <p:cNvSpPr/>
          <p:nvPr/>
        </p:nvSpPr>
        <p:spPr>
          <a:xfrm>
            <a:off x="457200" y="2194560"/>
            <a:ext cx="5486400" cy="3200400"/>
          </a:xfrm>
          <a:prstGeom prst="roundRect">
            <a:avLst>
              <a:gd name="adj" fmla="val 4000"/>
            </a:avLst>
          </a:prstGeom>
          <a:solidFill>
            <a:srgbClr val="F3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2286000"/>
            <a:ext cx="5212080" cy="3017520"/>
          </a:xfrm>
          <a:prstGeom prst="rect">
            <a:avLst/>
          </a:prstGeom>
          <a:noFill/>
        </p:spPr>
        <p:txBody>
          <a:bodyPr wrap="square">
            <a:spAutoFit/>
          </a:bodyPr>
          <a:lstStyle/>
          <a:p>
            <a:pPr>
              <a:spcAft>
                <a:spcPts val="0"/>
              </a:spcAft>
              <a:defRPr sz="1300">
                <a:solidFill>
                  <a:srgbClr val="1F2937"/>
                </a:solidFill>
                <a:latin typeface="Consolas"/>
              </a:defRPr>
            </a:pPr>
            <a:r>
              <a:t>~5,000 customers churned</a:t>
            </a:r>
          </a:p>
          <a:p>
            <a:pPr>
              <a:spcAft>
                <a:spcPts val="0"/>
              </a:spcAft>
              <a:defRPr sz="1300">
                <a:solidFill>
                  <a:srgbClr val="1F2937"/>
                </a:solidFill>
                <a:latin typeface="Consolas"/>
              </a:defRPr>
            </a:pPr>
            <a:r>
              <a:t>~3% monthly churn rate</a:t>
            </a:r>
          </a:p>
          <a:p>
            <a:pPr>
              <a:spcAft>
                <a:spcPts val="0"/>
              </a:spcAft>
              <a:defRPr sz="1300">
                <a:solidFill>
                  <a:srgbClr val="1F2937"/>
                </a:solidFill>
                <a:latin typeface="Consolas"/>
              </a:defRPr>
            </a:pPr>
            <a:r>
              <a:t>~$5M annual revenue at risk</a:t>
            </a:r>
          </a:p>
          <a:p>
            <a:pPr>
              <a:spcAft>
                <a:spcPts val="0"/>
              </a:spcAft>
              <a:defRPr sz="1300">
                <a:solidFill>
                  <a:srgbClr val="1F2937"/>
                </a:solidFill>
                <a:latin typeface="Consolas"/>
              </a:defRPr>
            </a:pPr>
            <a:r>
              <a:t>(if this continues)</a:t>
            </a:r>
          </a:p>
          <a:p>
            <a:pPr>
              <a:spcAft>
                <a:spcPts val="0"/>
              </a:spcAft>
              <a:defRPr sz="1300">
                <a:solidFill>
                  <a:srgbClr val="1F2937"/>
                </a:solidFill>
                <a:latin typeface="Consolas"/>
              </a:defRPr>
            </a:pPr>
            <a:r>
              <a:t> </a:t>
            </a:r>
          </a:p>
          <a:p>
            <a:pPr>
              <a:spcAft>
                <a:spcPts val="0"/>
              </a:spcAft>
              <a:defRPr sz="1300">
                <a:solidFill>
                  <a:srgbClr val="1F2937"/>
                </a:solidFill>
                <a:latin typeface="Consolas"/>
              </a:defRPr>
            </a:pPr>
            <a:r>
              <a:t>Suggestion: invest in</a:t>
            </a:r>
          </a:p>
          <a:p>
            <a:pPr>
              <a:spcAft>
                <a:spcPts val="0"/>
              </a:spcAft>
              <a:defRPr sz="1300">
                <a:solidFill>
                  <a:srgbClr val="1F2937"/>
                </a:solidFill>
                <a:latin typeface="Consolas"/>
              </a:defRPr>
            </a:pPr>
            <a:r>
              <a:t>retention to reduce churn.</a:t>
            </a:r>
          </a:p>
        </p:txBody>
      </p:sp>
      <p:sp>
        <p:nvSpPr>
          <p:cNvPr id="7" name="TextBox 6"/>
          <p:cNvSpPr txBox="1"/>
          <p:nvPr/>
        </p:nvSpPr>
        <p:spPr>
          <a:xfrm>
            <a:off x="6217920" y="1737360"/>
            <a:ext cx="5486400" cy="365760"/>
          </a:xfrm>
          <a:prstGeom prst="rect">
            <a:avLst/>
          </a:prstGeom>
          <a:noFill/>
        </p:spPr>
        <p:txBody>
          <a:bodyPr wrap="square">
            <a:spAutoFit/>
          </a:bodyPr>
          <a:lstStyle/>
          <a:p>
            <a:pPr>
              <a:spcAft>
                <a:spcPts val="600"/>
              </a:spcAft>
              <a:defRPr sz="1500" b="1">
                <a:solidFill>
                  <a:srgbClr val="DC2626"/>
                </a:solidFill>
              </a:defRPr>
            </a:pPr>
            <a:r>
              <a:t>What's wrong with it</a:t>
            </a:r>
          </a:p>
        </p:txBody>
      </p:sp>
      <p:sp>
        <p:nvSpPr>
          <p:cNvPr id="8" name="TextBox 7"/>
          <p:cNvSpPr txBox="1"/>
          <p:nvPr/>
        </p:nvSpPr>
        <p:spPr>
          <a:xfrm>
            <a:off x="6217920" y="2194560"/>
            <a:ext cx="5486400" cy="3657600"/>
          </a:xfrm>
          <a:prstGeom prst="rect">
            <a:avLst/>
          </a:prstGeom>
          <a:noFill/>
        </p:spPr>
        <p:txBody>
          <a:bodyPr wrap="square">
            <a:spAutoFit/>
          </a:bodyPr>
          <a:lstStyle/>
          <a:p>
            <a:pPr>
              <a:spcAft>
                <a:spcPts val="600"/>
              </a:spcAft>
              <a:defRPr sz="1400">
                <a:solidFill>
                  <a:srgbClr val="333947"/>
                </a:solidFill>
              </a:defRPr>
            </a:pPr>
            <a:r>
              <a:t>•  Lumps voluntary churn with non-payment writeoffs.</a:t>
            </a:r>
          </a:p>
          <a:p>
            <a:pPr>
              <a:spcAft>
                <a:spcPts val="600"/>
              </a:spcAft>
              <a:defRPr sz="1400">
                <a:solidFill>
                  <a:srgbClr val="333947"/>
                </a:solidFill>
              </a:defRPr>
            </a:pPr>
            <a:r>
              <a:t>•  Retention offers can't fix non-payment — that's a billing problem.</a:t>
            </a:r>
          </a:p>
          <a:p>
            <a:pPr>
              <a:spcAft>
                <a:spcPts val="600"/>
              </a:spcAft>
              <a:defRPr sz="1400">
                <a:solidFill>
                  <a:srgbClr val="333947"/>
                </a:solidFill>
              </a:defRPr>
            </a:pPr>
            <a:r>
              <a:t>•  The actionable slice is roughly half of that $5M.</a:t>
            </a:r>
          </a:p>
          <a:p>
            <a:pPr>
              <a:spcAft>
                <a:spcPts val="600"/>
              </a:spcAft>
              <a:defRPr sz="1400">
                <a:solidFill>
                  <a:srgbClr val="333947"/>
                </a:solidFill>
              </a:defRPr>
            </a:pPr>
            <a:r>
              <a:t>•  No mention of fiber competitors in the data.</a:t>
            </a:r>
          </a:p>
          <a:p>
            <a:pPr>
              <a:spcAft>
                <a:spcPts val="600"/>
              </a:spcAft>
              <a:defRPr sz="1400">
                <a:solidFill>
                  <a:srgbClr val="333947"/>
                </a:solidFill>
              </a:defRPr>
            </a:pPr>
            <a:r>
              <a:t>•  No annualization caveat (data is only 6 months).</a:t>
            </a:r>
          </a:p>
          <a:p>
            <a:pPr>
              <a:spcAft>
                <a:spcPts val="600"/>
              </a:spcAft>
              <a:defRPr sz="1400">
                <a:solidFill>
                  <a:srgbClr val="333947"/>
                </a:solidFill>
              </a:defRPr>
            </a:pPr>
            <a:r>
              <a:t>•  No assumptions, confidence, or risks stated.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0972800" cy="365760"/>
          </a:xfrm>
          <a:prstGeom prst="rect">
            <a:avLst/>
          </a:prstGeom>
          <a:noFill/>
        </p:spPr>
        <p:txBody>
          <a:bodyPr wrap="none">
            <a:spAutoFit/>
          </a:bodyPr>
          <a:lstStyle/>
          <a:p>
            <a:pPr>
              <a:defRPr sz="1200" b="1">
                <a:solidFill>
                  <a:srgbClr val="2D6CDF"/>
                </a:solidFill>
              </a:defRPr>
            </a:pPr>
            <a:r>
              <a:t>ROUND 2 OF 5 · THE FIX</a:t>
            </a:r>
          </a:p>
        </p:txBody>
      </p:sp>
      <p:sp>
        <p:nvSpPr>
          <p:cNvPr id="3" name="TextBox 2"/>
          <p:cNvSpPr txBox="1"/>
          <p:nvPr/>
        </p:nvSpPr>
        <p:spPr>
          <a:xfrm>
            <a:off x="457200" y="640080"/>
            <a:ext cx="11247120" cy="914400"/>
          </a:xfrm>
          <a:prstGeom prst="rect">
            <a:avLst/>
          </a:prstGeom>
          <a:noFill/>
        </p:spPr>
        <p:txBody>
          <a:bodyPr wrap="none">
            <a:spAutoFit/>
          </a:bodyPr>
          <a:lstStyle/>
          <a:p>
            <a:pPr>
              <a:defRPr sz="3000" b="1">
                <a:solidFill>
                  <a:srgbClr val="141B2D"/>
                </a:solidFill>
              </a:defRPr>
            </a:pPr>
            <a:r>
              <a:t>Rules — persistent context for your AI</a:t>
            </a:r>
          </a:p>
        </p:txBody>
      </p:sp>
      <p:sp>
        <p:nvSpPr>
          <p:cNvPr id="4" name="TextBox 3"/>
          <p:cNvSpPr txBox="1"/>
          <p:nvPr/>
        </p:nvSpPr>
        <p:spPr>
          <a:xfrm>
            <a:off x="457200" y="1737360"/>
            <a:ext cx="11247120" cy="548640"/>
          </a:xfrm>
          <a:prstGeom prst="rect">
            <a:avLst/>
          </a:prstGeom>
          <a:noFill/>
        </p:spPr>
        <p:txBody>
          <a:bodyPr wrap="square">
            <a:spAutoFit/>
          </a:bodyPr>
          <a:lstStyle/>
          <a:p>
            <a:pPr>
              <a:spcAft>
                <a:spcPts val="600"/>
              </a:spcAft>
              <a:defRPr sz="1800" b="0">
                <a:solidFill>
                  <a:srgbClr val="333947"/>
                </a:solidFill>
              </a:defRPr>
            </a:pPr>
            <a:r>
              <a:t>A Rule is a small markdown file that loads into every chat in this project. </a:t>
            </a:r>
          </a:p>
        </p:txBody>
      </p:sp>
      <p:sp>
        <p:nvSpPr>
          <p:cNvPr id="5" name="TextBox 4"/>
          <p:cNvSpPr txBox="1"/>
          <p:nvPr/>
        </p:nvSpPr>
        <p:spPr>
          <a:xfrm>
            <a:off x="457200" y="2286000"/>
            <a:ext cx="11247120" cy="365760"/>
          </a:xfrm>
          <a:prstGeom prst="rect">
            <a:avLst/>
          </a:prstGeom>
          <a:noFill/>
        </p:spPr>
        <p:txBody>
          <a:bodyPr wrap="square">
            <a:spAutoFit/>
          </a:bodyPr>
          <a:lstStyle/>
          <a:p>
            <a:pPr>
              <a:spcAft>
                <a:spcPts val="600"/>
              </a:spcAft>
              <a:defRPr sz="1600" b="0">
                <a:solidFill>
                  <a:srgbClr val="6B7280"/>
                </a:solidFill>
              </a:defRPr>
            </a:pPr>
            <a:r>
              <a:t>Like an employee handbook: written once, applied to every task.</a:t>
            </a:r>
          </a:p>
        </p:txBody>
      </p:sp>
      <p:sp>
        <p:nvSpPr>
          <p:cNvPr id="6" name="Rectangle 5"/>
          <p:cNvSpPr/>
          <p:nvPr/>
        </p:nvSpPr>
        <p:spPr>
          <a:xfrm>
            <a:off x="457200" y="2834640"/>
            <a:ext cx="11247120" cy="18288"/>
          </a:xfrm>
          <a:prstGeom prst="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3017520"/>
            <a:ext cx="5486400" cy="457200"/>
          </a:xfrm>
          <a:prstGeom prst="rect">
            <a:avLst/>
          </a:prstGeom>
          <a:noFill/>
        </p:spPr>
        <p:txBody>
          <a:bodyPr wrap="square">
            <a:spAutoFit/>
          </a:bodyPr>
          <a:lstStyle/>
          <a:p>
            <a:pPr>
              <a:spcAft>
                <a:spcPts val="600"/>
              </a:spcAft>
              <a:defRPr sz="1500" b="1">
                <a:solidFill>
                  <a:srgbClr val="16A34A"/>
                </a:solidFill>
              </a:defRPr>
            </a:pPr>
            <a:r>
              <a:t>Good things to put in a Rule</a:t>
            </a:r>
          </a:p>
        </p:txBody>
      </p:sp>
      <p:sp>
        <p:nvSpPr>
          <p:cNvPr id="8" name="TextBox 7"/>
          <p:cNvSpPr txBox="1"/>
          <p:nvPr/>
        </p:nvSpPr>
        <p:spPr>
          <a:xfrm>
            <a:off x="457200" y="3520440"/>
            <a:ext cx="5486400" cy="2743200"/>
          </a:xfrm>
          <a:prstGeom prst="rect">
            <a:avLst/>
          </a:prstGeom>
          <a:noFill/>
        </p:spPr>
        <p:txBody>
          <a:bodyPr wrap="square">
            <a:spAutoFit/>
          </a:bodyPr>
          <a:lstStyle/>
          <a:p>
            <a:pPr>
              <a:spcAft>
                <a:spcPts val="600"/>
              </a:spcAft>
              <a:defRPr sz="1400">
                <a:solidFill>
                  <a:srgbClr val="333947"/>
                </a:solidFill>
              </a:defRPr>
            </a:pPr>
            <a:r>
              <a:t>•  Definitions: 'voluntary churn' means disconnect_type='voluntary'</a:t>
            </a:r>
          </a:p>
          <a:p>
            <a:pPr>
              <a:spcAft>
                <a:spcPts val="600"/>
              </a:spcAft>
              <a:defRPr sz="1400">
                <a:solidFill>
                  <a:srgbClr val="333947"/>
                </a:solidFill>
              </a:defRPr>
            </a:pPr>
            <a:r>
              <a:t>•  Conventions: always annualize 6-mo data with ×2</a:t>
            </a:r>
          </a:p>
          <a:p>
            <a:pPr>
              <a:spcAft>
                <a:spcPts val="600"/>
              </a:spcAft>
              <a:defRPr sz="1400">
                <a:solidFill>
                  <a:srgbClr val="333947"/>
                </a:solidFill>
              </a:defRPr>
            </a:pPr>
            <a:r>
              <a:t>•  Style: end recommendations with assumptions + confidence</a:t>
            </a:r>
          </a:p>
          <a:p>
            <a:pPr>
              <a:spcAft>
                <a:spcPts val="600"/>
              </a:spcAft>
              <a:defRPr sz="1400">
                <a:solidFill>
                  <a:srgbClr val="333947"/>
                </a:solidFill>
              </a:defRPr>
            </a:pPr>
            <a:r>
              <a:t>•  Column names: repeat-call column is is_repeat_7d</a:t>
            </a:r>
          </a:p>
        </p:txBody>
      </p:sp>
      <p:sp>
        <p:nvSpPr>
          <p:cNvPr id="9" name="TextBox 8"/>
          <p:cNvSpPr txBox="1"/>
          <p:nvPr/>
        </p:nvSpPr>
        <p:spPr>
          <a:xfrm>
            <a:off x="6217920" y="3017520"/>
            <a:ext cx="5486400" cy="457200"/>
          </a:xfrm>
          <a:prstGeom prst="rect">
            <a:avLst/>
          </a:prstGeom>
          <a:noFill/>
        </p:spPr>
        <p:txBody>
          <a:bodyPr wrap="square">
            <a:spAutoFit/>
          </a:bodyPr>
          <a:lstStyle/>
          <a:p>
            <a:pPr>
              <a:spcAft>
                <a:spcPts val="600"/>
              </a:spcAft>
              <a:defRPr sz="1500" b="1">
                <a:solidFill>
                  <a:srgbClr val="DC2626"/>
                </a:solidFill>
              </a:defRPr>
            </a:pPr>
            <a:r>
              <a:t>Don't put in a Rule</a:t>
            </a:r>
          </a:p>
        </p:txBody>
      </p:sp>
      <p:sp>
        <p:nvSpPr>
          <p:cNvPr id="10" name="TextBox 9"/>
          <p:cNvSpPr txBox="1"/>
          <p:nvPr/>
        </p:nvSpPr>
        <p:spPr>
          <a:xfrm>
            <a:off x="6217920" y="3520440"/>
            <a:ext cx="5486400" cy="2743200"/>
          </a:xfrm>
          <a:prstGeom prst="rect">
            <a:avLst/>
          </a:prstGeom>
          <a:noFill/>
        </p:spPr>
        <p:txBody>
          <a:bodyPr wrap="square">
            <a:spAutoFit/>
          </a:bodyPr>
          <a:lstStyle/>
          <a:p>
            <a:pPr>
              <a:spcAft>
                <a:spcPts val="600"/>
              </a:spcAft>
              <a:defRPr sz="1400">
                <a:solidFill>
                  <a:srgbClr val="333947"/>
                </a:solidFill>
              </a:defRPr>
            </a:pPr>
            <a:r>
              <a:t>•  Step-by-step formulas (use a Skill instead)</a:t>
            </a:r>
          </a:p>
          <a:p>
            <a:pPr>
              <a:spcAft>
                <a:spcPts val="600"/>
              </a:spcAft>
              <a:defRPr sz="1400">
                <a:solidFill>
                  <a:srgbClr val="333947"/>
                </a:solidFill>
              </a:defRPr>
            </a:pPr>
            <a:r>
              <a:t>•  Anything you only need for one task</a:t>
            </a:r>
          </a:p>
          <a:p>
            <a:pPr>
              <a:spcAft>
                <a:spcPts val="600"/>
              </a:spcAft>
              <a:defRPr sz="1400">
                <a:solidFill>
                  <a:srgbClr val="333947"/>
                </a:solidFill>
              </a:defRPr>
            </a:pPr>
            <a:r>
              <a:t>•  Whole style guides — keep it short, &lt; 50 lines</a:t>
            </a:r>
          </a:p>
          <a:p>
            <a:pPr>
              <a:spcAft>
                <a:spcPts val="600"/>
              </a:spcAft>
              <a:defRPr sz="1400">
                <a:solidFill>
                  <a:srgbClr val="333947"/>
                </a:solidFill>
              </a:defRPr>
            </a:pPr>
            <a:r>
              <a:t>•  Secrets, credentials, or large data dumps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0972800" cy="365760"/>
          </a:xfrm>
          <a:prstGeom prst="rect">
            <a:avLst/>
          </a:prstGeom>
          <a:noFill/>
        </p:spPr>
        <p:txBody>
          <a:bodyPr wrap="none">
            <a:spAutoFit/>
          </a:bodyPr>
          <a:lstStyle/>
          <a:p>
            <a:pPr>
              <a:defRPr sz="1200" b="1">
                <a:solidFill>
                  <a:srgbClr val="2D6CDF"/>
                </a:solidFill>
              </a:defRPr>
            </a:pPr>
            <a:r>
              <a:t>ROUND 2 · LIVE CODING</a:t>
            </a:r>
          </a:p>
        </p:txBody>
      </p:sp>
      <p:sp>
        <p:nvSpPr>
          <p:cNvPr id="3" name="TextBox 2"/>
          <p:cNvSpPr txBox="1"/>
          <p:nvPr/>
        </p:nvSpPr>
        <p:spPr>
          <a:xfrm>
            <a:off x="457200" y="640080"/>
            <a:ext cx="11247120" cy="914400"/>
          </a:xfrm>
          <a:prstGeom prst="rect">
            <a:avLst/>
          </a:prstGeom>
          <a:noFill/>
        </p:spPr>
        <p:txBody>
          <a:bodyPr wrap="none">
            <a:spAutoFit/>
          </a:bodyPr>
          <a:lstStyle/>
          <a:p>
            <a:pPr>
              <a:defRPr sz="3000" b="1">
                <a:solidFill>
                  <a:srgbClr val="141B2D"/>
                </a:solidFill>
              </a:defRPr>
            </a:pPr>
            <a:r>
              <a:t>Building a Rule in 60 seconds</a:t>
            </a:r>
          </a:p>
        </p:txBody>
      </p:sp>
      <p:sp>
        <p:nvSpPr>
          <p:cNvPr id="4" name="TextBox 3"/>
          <p:cNvSpPr txBox="1"/>
          <p:nvPr/>
        </p:nvSpPr>
        <p:spPr>
          <a:xfrm>
            <a:off x="457200" y="1691640"/>
            <a:ext cx="11247120" cy="365760"/>
          </a:xfrm>
          <a:prstGeom prst="rect">
            <a:avLst/>
          </a:prstGeom>
          <a:noFill/>
        </p:spPr>
        <p:txBody>
          <a:bodyPr wrap="square">
            <a:spAutoFit/>
          </a:bodyPr>
          <a:lstStyle/>
          <a:p>
            <a:pPr>
              <a:spcAft>
                <a:spcPts val="600"/>
              </a:spcAft>
              <a:defRPr sz="1400" b="1">
                <a:solidFill>
                  <a:srgbClr val="2D6CDF"/>
                </a:solidFill>
              </a:defRPr>
            </a:pPr>
            <a:r>
              <a:t>File: .cursor/rules/metromobile.mdc</a:t>
            </a:r>
          </a:p>
        </p:txBody>
      </p:sp>
      <p:sp>
        <p:nvSpPr>
          <p:cNvPr id="5" name="Rounded Rectangle 4"/>
          <p:cNvSpPr/>
          <p:nvPr/>
        </p:nvSpPr>
        <p:spPr>
          <a:xfrm>
            <a:off x="457200" y="2103120"/>
            <a:ext cx="11247120" cy="3931920"/>
          </a:xfrm>
          <a:prstGeom prst="roundRect">
            <a:avLst>
              <a:gd name="adj" fmla="val 4000"/>
            </a:avLst>
          </a:prstGeom>
          <a:solidFill>
            <a:srgbClr val="F3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2194560"/>
            <a:ext cx="10972800" cy="3749039"/>
          </a:xfrm>
          <a:prstGeom prst="rect">
            <a:avLst/>
          </a:prstGeom>
          <a:noFill/>
        </p:spPr>
        <p:txBody>
          <a:bodyPr wrap="square">
            <a:spAutoFit/>
          </a:bodyPr>
          <a:lstStyle/>
          <a:p>
            <a:pPr>
              <a:spcAft>
                <a:spcPts val="0"/>
              </a:spcAft>
              <a:defRPr sz="1300">
                <a:solidFill>
                  <a:srgbClr val="1F2937"/>
                </a:solidFill>
                <a:latin typeface="Consolas"/>
              </a:defRPr>
            </a:pPr>
            <a:r>
              <a:t>---</a:t>
            </a:r>
          </a:p>
          <a:p>
            <a:pPr>
              <a:spcAft>
                <a:spcPts val="0"/>
              </a:spcAft>
              <a:defRPr sz="1300">
                <a:solidFill>
                  <a:srgbClr val="1F2937"/>
                </a:solidFill>
                <a:latin typeface="Consolas"/>
              </a:defRPr>
            </a:pPr>
            <a:r>
              <a:t>description: Metromobile analytics conventions</a:t>
            </a:r>
          </a:p>
          <a:p>
            <a:pPr>
              <a:spcAft>
                <a:spcPts val="0"/>
              </a:spcAft>
              <a:defRPr sz="1300">
                <a:solidFill>
                  <a:srgbClr val="1F2937"/>
                </a:solidFill>
                <a:latin typeface="Consolas"/>
              </a:defRPr>
            </a:pPr>
            <a:r>
              <a:t>alwaysApply: true</a:t>
            </a:r>
          </a:p>
          <a:p>
            <a:pPr>
              <a:spcAft>
                <a:spcPts val="0"/>
              </a:spcAft>
              <a:defRPr sz="1300">
                <a:solidFill>
                  <a:srgbClr val="1F2937"/>
                </a:solidFill>
                <a:latin typeface="Consolas"/>
              </a:defRPr>
            </a:pPr>
            <a:r>
              <a:t>---</a:t>
            </a:r>
          </a:p>
          <a:p>
            <a:pPr>
              <a:spcAft>
                <a:spcPts val="0"/>
              </a:spcAft>
              <a:defRPr sz="1300">
                <a:solidFill>
                  <a:srgbClr val="1F2937"/>
                </a:solidFill>
                <a:latin typeface="Consolas"/>
              </a:defRPr>
            </a:pPr>
            <a:r>
              <a:t> </a:t>
            </a:r>
          </a:p>
          <a:p>
            <a:pPr>
              <a:spcAft>
                <a:spcPts val="0"/>
              </a:spcAft>
              <a:defRPr sz="1300">
                <a:solidFill>
                  <a:srgbClr val="1F2937"/>
                </a:solidFill>
                <a:latin typeface="Consolas"/>
              </a:defRPr>
            </a:pPr>
            <a:r>
              <a:t># When analyzing Metromobile data</a:t>
            </a:r>
          </a:p>
          <a:p>
            <a:pPr>
              <a:spcAft>
                <a:spcPts val="0"/>
              </a:spcAft>
              <a:defRPr sz="1300">
                <a:solidFill>
                  <a:srgbClr val="1F2937"/>
                </a:solidFill>
                <a:latin typeface="Consolas"/>
              </a:defRPr>
            </a:pPr>
            <a:r>
              <a:t> </a:t>
            </a:r>
          </a:p>
          <a:p>
            <a:pPr>
              <a:spcAft>
                <a:spcPts val="0"/>
              </a:spcAft>
              <a:defRPr sz="1300">
                <a:solidFill>
                  <a:srgbClr val="1F2937"/>
                </a:solidFill>
                <a:latin typeface="Consolas"/>
              </a:defRPr>
            </a:pPr>
            <a:r>
              <a:t>- Lead with disconnect_type = 'voluntary'. That's what retention can fix.</a:t>
            </a:r>
          </a:p>
          <a:p>
            <a:pPr>
              <a:spcAft>
                <a:spcPts val="0"/>
              </a:spcAft>
              <a:defRPr sz="1300">
                <a:solidFill>
                  <a:srgbClr val="1F2937"/>
                </a:solidFill>
                <a:latin typeface="Consolas"/>
              </a:defRPr>
            </a:pPr>
            <a:r>
              <a:t>- Treat non_payment as a collections issue, not a retention target.</a:t>
            </a:r>
          </a:p>
          <a:p>
            <a:pPr>
              <a:spcAft>
                <a:spcPts val="0"/>
              </a:spcAft>
              <a:defRPr sz="1300">
                <a:solidFill>
                  <a:srgbClr val="1F2937"/>
                </a:solidFill>
                <a:latin typeface="Consolas"/>
              </a:defRPr>
            </a:pPr>
            <a:r>
              <a:t>- Period is Oct 2025 – Mar 2026 (6 months). Annualize with ×2 and label it.</a:t>
            </a:r>
          </a:p>
          <a:p>
            <a:pPr>
              <a:spcAft>
                <a:spcPts val="0"/>
              </a:spcAft>
              <a:defRPr sz="1300">
                <a:solidFill>
                  <a:srgbClr val="1F2937"/>
                </a:solidFill>
                <a:latin typeface="Consolas"/>
              </a:defRPr>
            </a:pPr>
            <a:r>
              <a:t>- Repeat-call column is is_repeat_7d.</a:t>
            </a:r>
          </a:p>
          <a:p>
            <a:pPr>
              <a:spcAft>
                <a:spcPts val="0"/>
              </a:spcAft>
              <a:defRPr sz="1300">
                <a:solidFill>
                  <a:srgbClr val="1F2937"/>
                </a:solidFill>
                <a:latin typeface="Consolas"/>
              </a:defRPr>
            </a:pPr>
            <a:r>
              <a:t>- End $ recommendations with assumptions, confidence, and one key risk.</a:t>
            </a:r>
          </a:p>
          <a:p>
            <a:pPr>
              <a:spcAft>
                <a:spcPts val="0"/>
              </a:spcAft>
              <a:defRPr sz="1300">
                <a:solidFill>
                  <a:srgbClr val="1F2937"/>
                </a:solidFill>
                <a:latin typeface="Consolas"/>
              </a:defRPr>
            </a:pPr>
            <a:r>
              <a:t> </a:t>
            </a:r>
          </a:p>
        </p:txBody>
      </p:sp>
      <p:sp>
        <p:nvSpPr>
          <p:cNvPr id="7" name="TextBox 6"/>
          <p:cNvSpPr txBox="1"/>
          <p:nvPr/>
        </p:nvSpPr>
        <p:spPr>
          <a:xfrm>
            <a:off x="457200" y="6217920"/>
            <a:ext cx="11247120" cy="365760"/>
          </a:xfrm>
          <a:prstGeom prst="rect">
            <a:avLst/>
          </a:prstGeom>
          <a:noFill/>
        </p:spPr>
        <p:txBody>
          <a:bodyPr wrap="square">
            <a:spAutoFit/>
          </a:bodyPr>
          <a:lstStyle/>
          <a:p>
            <a:pPr>
              <a:spcAft>
                <a:spcPts val="600"/>
              </a:spcAft>
              <a:defRPr sz="1300" b="0">
                <a:solidFill>
                  <a:srgbClr val="6B7280"/>
                </a:solidFill>
              </a:defRPr>
            </a:pPr>
            <a:r>
              <a:t>Save the file → Cmd/Ctrl+Shift+P → Reload Window → New Chat → rerun the same prompt.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0972800" cy="365760"/>
          </a:xfrm>
          <a:prstGeom prst="rect">
            <a:avLst/>
          </a:prstGeom>
          <a:noFill/>
        </p:spPr>
        <p:txBody>
          <a:bodyPr wrap="none">
            <a:spAutoFit/>
          </a:bodyPr>
          <a:lstStyle/>
          <a:p>
            <a:pPr>
              <a:defRPr sz="1200" b="1">
                <a:solidFill>
                  <a:srgbClr val="2D6CDF"/>
                </a:solidFill>
              </a:defRPr>
            </a:pPr>
            <a:r>
              <a:t>ROUND 2 · THE REVEAL</a:t>
            </a:r>
          </a:p>
        </p:txBody>
      </p:sp>
      <p:sp>
        <p:nvSpPr>
          <p:cNvPr id="3" name="TextBox 2"/>
          <p:cNvSpPr txBox="1"/>
          <p:nvPr/>
        </p:nvSpPr>
        <p:spPr>
          <a:xfrm>
            <a:off x="457200" y="640080"/>
            <a:ext cx="11247120" cy="914400"/>
          </a:xfrm>
          <a:prstGeom prst="rect">
            <a:avLst/>
          </a:prstGeom>
          <a:noFill/>
        </p:spPr>
        <p:txBody>
          <a:bodyPr wrap="none">
            <a:spAutoFit/>
          </a:bodyPr>
          <a:lstStyle/>
          <a:p>
            <a:pPr>
              <a:defRPr sz="3000" b="1">
                <a:solidFill>
                  <a:srgbClr val="141B2D"/>
                </a:solidFill>
              </a:defRPr>
            </a:pPr>
            <a:r>
              <a:t>Same prompt, with the Rule loaded</a:t>
            </a:r>
          </a:p>
        </p:txBody>
      </p:sp>
      <p:sp>
        <p:nvSpPr>
          <p:cNvPr id="4" name="TextBox 3"/>
          <p:cNvSpPr txBox="1"/>
          <p:nvPr/>
        </p:nvSpPr>
        <p:spPr>
          <a:xfrm>
            <a:off x="457200" y="1737360"/>
            <a:ext cx="5486400" cy="365760"/>
          </a:xfrm>
          <a:prstGeom prst="rect">
            <a:avLst/>
          </a:prstGeom>
          <a:noFill/>
        </p:spPr>
        <p:txBody>
          <a:bodyPr wrap="square">
            <a:spAutoFit/>
          </a:bodyPr>
          <a:lstStyle/>
          <a:p>
            <a:pPr>
              <a:spcAft>
                <a:spcPts val="600"/>
              </a:spcAft>
              <a:defRPr sz="1500" b="1">
                <a:solidFill>
                  <a:srgbClr val="16A34A"/>
                </a:solidFill>
              </a:defRPr>
            </a:pPr>
            <a:r>
              <a:t>What changes in the answer</a:t>
            </a:r>
          </a:p>
        </p:txBody>
      </p:sp>
      <p:sp>
        <p:nvSpPr>
          <p:cNvPr id="5" name="TextBox 4"/>
          <p:cNvSpPr txBox="1"/>
          <p:nvPr/>
        </p:nvSpPr>
        <p:spPr>
          <a:xfrm>
            <a:off x="457200" y="2194560"/>
            <a:ext cx="5486400" cy="4114800"/>
          </a:xfrm>
          <a:prstGeom prst="rect">
            <a:avLst/>
          </a:prstGeom>
          <a:noFill/>
        </p:spPr>
        <p:txBody>
          <a:bodyPr wrap="square">
            <a:spAutoFit/>
          </a:bodyPr>
          <a:lstStyle/>
          <a:p>
            <a:pPr>
              <a:spcAft>
                <a:spcPts val="600"/>
              </a:spcAft>
              <a:defRPr sz="1500">
                <a:solidFill>
                  <a:srgbClr val="333947"/>
                </a:solidFill>
              </a:defRPr>
            </a:pPr>
            <a:r>
              <a:t>•  Leads with voluntary churn (~2,100 in last 3 mo).</a:t>
            </a:r>
          </a:p>
          <a:p>
            <a:pPr>
              <a:spcAft>
                <a:spcPts val="600"/>
              </a:spcAft>
              <a:defRPr sz="1500">
                <a:solidFill>
                  <a:srgbClr val="333947"/>
                </a:solidFill>
              </a:defRPr>
            </a:pPr>
            <a:r>
              <a:t>•  Separates non-payment as a non-retention problem.</a:t>
            </a:r>
          </a:p>
          <a:p>
            <a:pPr>
              <a:spcAft>
                <a:spcPts val="600"/>
              </a:spcAft>
              <a:defRPr sz="1500">
                <a:solidFill>
                  <a:srgbClr val="333947"/>
                </a:solidFill>
              </a:defRPr>
            </a:pPr>
            <a:r>
              <a:t>•  Annualized number is labeled with ×2 assumption.</a:t>
            </a:r>
          </a:p>
          <a:p>
            <a:pPr>
              <a:spcAft>
                <a:spcPts val="600"/>
              </a:spcAft>
              <a:defRPr sz="1500">
                <a:solidFill>
                  <a:srgbClr val="333947"/>
                </a:solidFill>
              </a:defRPr>
            </a:pPr>
            <a:r>
              <a:t>•  Ends with confidence and one key risk.</a:t>
            </a:r>
          </a:p>
          <a:p>
            <a:pPr>
              <a:spcAft>
                <a:spcPts val="600"/>
              </a:spcAft>
              <a:defRPr sz="1500">
                <a:solidFill>
                  <a:srgbClr val="333947"/>
                </a:solidFill>
              </a:defRPr>
            </a:pPr>
            <a:r>
              <a:t>•  Same data. Same prompt. Sharper output.</a:t>
            </a:r>
          </a:p>
        </p:txBody>
      </p:sp>
      <p:sp>
        <p:nvSpPr>
          <p:cNvPr id="6" name="TextBox 5"/>
          <p:cNvSpPr txBox="1"/>
          <p:nvPr/>
        </p:nvSpPr>
        <p:spPr>
          <a:xfrm>
            <a:off x="6217920" y="1737360"/>
            <a:ext cx="5486400" cy="365760"/>
          </a:xfrm>
          <a:prstGeom prst="rect">
            <a:avLst/>
          </a:prstGeom>
          <a:noFill/>
        </p:spPr>
        <p:txBody>
          <a:bodyPr wrap="square">
            <a:spAutoFit/>
          </a:bodyPr>
          <a:lstStyle/>
          <a:p>
            <a:pPr>
              <a:spcAft>
                <a:spcPts val="600"/>
              </a:spcAft>
              <a:defRPr sz="1500" b="1">
                <a:solidFill>
                  <a:srgbClr val="2D6CDF"/>
                </a:solidFill>
              </a:defRPr>
            </a:pPr>
            <a:r>
              <a:t>Why this matters in real work</a:t>
            </a:r>
          </a:p>
        </p:txBody>
      </p:sp>
      <p:sp>
        <p:nvSpPr>
          <p:cNvPr id="7" name="TextBox 6"/>
          <p:cNvSpPr txBox="1"/>
          <p:nvPr/>
        </p:nvSpPr>
        <p:spPr>
          <a:xfrm>
            <a:off x="6217920" y="2194560"/>
            <a:ext cx="5486400" cy="4114800"/>
          </a:xfrm>
          <a:prstGeom prst="rect">
            <a:avLst/>
          </a:prstGeom>
          <a:noFill/>
        </p:spPr>
        <p:txBody>
          <a:bodyPr wrap="square">
            <a:spAutoFit/>
          </a:bodyPr>
          <a:lstStyle/>
          <a:p>
            <a:pPr>
              <a:spcAft>
                <a:spcPts val="600"/>
              </a:spcAft>
              <a:defRPr sz="1500">
                <a:solidFill>
                  <a:srgbClr val="333947"/>
                </a:solidFill>
              </a:defRPr>
            </a:pPr>
            <a:r>
              <a:t>•  You stop repeating yourself in every chat.</a:t>
            </a:r>
          </a:p>
          <a:p>
            <a:pPr>
              <a:spcAft>
                <a:spcPts val="600"/>
              </a:spcAft>
              <a:defRPr sz="1500">
                <a:solidFill>
                  <a:srgbClr val="333947"/>
                </a:solidFill>
              </a:defRPr>
            </a:pPr>
            <a:r>
              <a:t>•  New teammates inherit your project's conventions automatically.</a:t>
            </a:r>
          </a:p>
          <a:p>
            <a:pPr>
              <a:spcAft>
                <a:spcPts val="600"/>
              </a:spcAft>
              <a:defRPr sz="1500">
                <a:solidFill>
                  <a:srgbClr val="333947"/>
                </a:solidFill>
              </a:defRPr>
            </a:pPr>
            <a:r>
              <a:t>•  Consistency across analyses — no more drift.</a:t>
            </a:r>
          </a:p>
          <a:p>
            <a:pPr>
              <a:spcAft>
                <a:spcPts val="600"/>
              </a:spcAft>
              <a:defRPr sz="1500">
                <a:solidFill>
                  <a:srgbClr val="333947"/>
                </a:solidFill>
              </a:defRPr>
            </a:pPr>
            <a:r>
              <a:t>•  5 lines of Rule replaces a 20-line system prompt you'd otherwise paste every time.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0972800" cy="365760"/>
          </a:xfrm>
          <a:prstGeom prst="rect">
            <a:avLst/>
          </a:prstGeom>
          <a:noFill/>
        </p:spPr>
        <p:txBody>
          <a:bodyPr wrap="none">
            <a:spAutoFit/>
          </a:bodyPr>
          <a:lstStyle/>
          <a:p>
            <a:pPr>
              <a:defRPr sz="1200" b="1">
                <a:solidFill>
                  <a:srgbClr val="2D6CDF"/>
                </a:solidFill>
              </a:defRPr>
            </a:pPr>
            <a:r>
              <a:t>ROUND 3 OF 5 · GOING FURTHER</a:t>
            </a:r>
          </a:p>
        </p:txBody>
      </p:sp>
      <p:sp>
        <p:nvSpPr>
          <p:cNvPr id="3" name="TextBox 2"/>
          <p:cNvSpPr txBox="1"/>
          <p:nvPr/>
        </p:nvSpPr>
        <p:spPr>
          <a:xfrm>
            <a:off x="457200" y="640080"/>
            <a:ext cx="11247120" cy="914400"/>
          </a:xfrm>
          <a:prstGeom prst="rect">
            <a:avLst/>
          </a:prstGeom>
          <a:noFill/>
        </p:spPr>
        <p:txBody>
          <a:bodyPr wrap="none">
            <a:spAutoFit/>
          </a:bodyPr>
          <a:lstStyle/>
          <a:p>
            <a:pPr>
              <a:defRPr sz="3000" b="1">
                <a:solidFill>
                  <a:srgbClr val="141B2D"/>
                </a:solidFill>
              </a:defRPr>
            </a:pPr>
            <a:r>
              <a:t>Skills — playbooks for specific analyses</a:t>
            </a:r>
          </a:p>
        </p:txBody>
      </p:sp>
      <p:sp>
        <p:nvSpPr>
          <p:cNvPr id="4" name="TextBox 3"/>
          <p:cNvSpPr txBox="1"/>
          <p:nvPr/>
        </p:nvSpPr>
        <p:spPr>
          <a:xfrm>
            <a:off x="457200" y="1737360"/>
            <a:ext cx="11247120" cy="640080"/>
          </a:xfrm>
          <a:prstGeom prst="rect">
            <a:avLst/>
          </a:prstGeom>
          <a:noFill/>
        </p:spPr>
        <p:txBody>
          <a:bodyPr wrap="square">
            <a:spAutoFit/>
          </a:bodyPr>
          <a:lstStyle/>
          <a:p>
            <a:pPr>
              <a:spcAft>
                <a:spcPts val="600"/>
              </a:spcAft>
              <a:defRPr sz="1800" b="0">
                <a:solidFill>
                  <a:srgbClr val="333947"/>
                </a:solidFill>
              </a:defRPr>
            </a:pPr>
            <a:r>
              <a:t>A Skill is a multi-step recipe that loads only when the question matches. </a:t>
            </a:r>
          </a:p>
        </p:txBody>
      </p:sp>
      <p:sp>
        <p:nvSpPr>
          <p:cNvPr id="5" name="TextBox 4"/>
          <p:cNvSpPr txBox="1"/>
          <p:nvPr/>
        </p:nvSpPr>
        <p:spPr>
          <a:xfrm>
            <a:off x="457200" y="2331720"/>
            <a:ext cx="11247120" cy="457200"/>
          </a:xfrm>
          <a:prstGeom prst="rect">
            <a:avLst/>
          </a:prstGeom>
          <a:noFill/>
        </p:spPr>
        <p:txBody>
          <a:bodyPr wrap="square">
            <a:spAutoFit/>
          </a:bodyPr>
          <a:lstStyle/>
          <a:p>
            <a:pPr>
              <a:spcAft>
                <a:spcPts val="600"/>
              </a:spcAft>
              <a:defRPr sz="1600" b="0">
                <a:solidFill>
                  <a:srgbClr val="6B7280"/>
                </a:solidFill>
              </a:defRPr>
            </a:pPr>
            <a:r>
              <a:t>Like an SOP: 'When asked about campaign ROI, run these 8 steps and output this table.'</a:t>
            </a:r>
          </a:p>
        </p:txBody>
      </p:sp>
      <p:sp>
        <p:nvSpPr>
          <p:cNvPr id="6" name="Rectangle 5"/>
          <p:cNvSpPr/>
          <p:nvPr/>
        </p:nvSpPr>
        <p:spPr>
          <a:xfrm>
            <a:off x="457200" y="2926080"/>
            <a:ext cx="11247120" cy="18288"/>
          </a:xfrm>
          <a:prstGeom prst="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3108960"/>
            <a:ext cx="5486400" cy="457200"/>
          </a:xfrm>
          <a:prstGeom prst="rect">
            <a:avLst/>
          </a:prstGeom>
          <a:noFill/>
        </p:spPr>
        <p:txBody>
          <a:bodyPr wrap="square">
            <a:spAutoFit/>
          </a:bodyPr>
          <a:lstStyle/>
          <a:p>
            <a:pPr>
              <a:spcAft>
                <a:spcPts val="600"/>
              </a:spcAft>
              <a:defRPr sz="1600" b="1">
                <a:solidFill>
                  <a:srgbClr val="2D6CDF"/>
                </a:solidFill>
              </a:defRPr>
            </a:pPr>
            <a:r>
              <a:t>Rules</a:t>
            </a:r>
          </a:p>
        </p:txBody>
      </p:sp>
      <p:sp>
        <p:nvSpPr>
          <p:cNvPr id="8" name="TextBox 7"/>
          <p:cNvSpPr txBox="1"/>
          <p:nvPr/>
        </p:nvSpPr>
        <p:spPr>
          <a:xfrm>
            <a:off x="457200" y="3611880"/>
            <a:ext cx="5486400" cy="2743200"/>
          </a:xfrm>
          <a:prstGeom prst="rect">
            <a:avLst/>
          </a:prstGeom>
          <a:noFill/>
        </p:spPr>
        <p:txBody>
          <a:bodyPr wrap="square">
            <a:spAutoFit/>
          </a:bodyPr>
          <a:lstStyle/>
          <a:p>
            <a:pPr>
              <a:spcAft>
                <a:spcPts val="600"/>
              </a:spcAft>
              <a:defRPr sz="1400">
                <a:solidFill>
                  <a:srgbClr val="333947"/>
                </a:solidFill>
              </a:defRPr>
            </a:pPr>
            <a:r>
              <a:t>•  Always on, in every chat</a:t>
            </a:r>
          </a:p>
          <a:p>
            <a:pPr>
              <a:spcAft>
                <a:spcPts val="600"/>
              </a:spcAft>
              <a:defRPr sz="1400">
                <a:solidFill>
                  <a:srgbClr val="333947"/>
                </a:solidFill>
              </a:defRPr>
            </a:pPr>
            <a:r>
              <a:t>•  Judgment &amp; conventions</a:t>
            </a:r>
          </a:p>
          <a:p>
            <a:pPr>
              <a:spcAft>
                <a:spcPts val="600"/>
              </a:spcAft>
              <a:defRPr sz="1400">
                <a:solidFill>
                  <a:srgbClr val="333947"/>
                </a:solidFill>
              </a:defRPr>
            </a:pPr>
            <a:r>
              <a:t>•  Short (≤ 50 lines)</a:t>
            </a:r>
          </a:p>
          <a:p>
            <a:pPr>
              <a:spcAft>
                <a:spcPts val="600"/>
              </a:spcAft>
              <a:defRPr sz="1400">
                <a:solidFill>
                  <a:srgbClr val="333947"/>
                </a:solidFill>
              </a:defRPr>
            </a:pPr>
            <a:r>
              <a:t>•  Loaded automatically</a:t>
            </a:r>
          </a:p>
          <a:p>
            <a:pPr>
              <a:spcAft>
                <a:spcPts val="600"/>
              </a:spcAft>
              <a:defRPr sz="1400">
                <a:solidFill>
                  <a:srgbClr val="333947"/>
                </a:solidFill>
              </a:defRPr>
            </a:pPr>
            <a:r>
              <a:t>•  Analogy: employee handbook</a:t>
            </a:r>
          </a:p>
        </p:txBody>
      </p:sp>
      <p:sp>
        <p:nvSpPr>
          <p:cNvPr id="9" name="TextBox 8"/>
          <p:cNvSpPr txBox="1"/>
          <p:nvPr/>
        </p:nvSpPr>
        <p:spPr>
          <a:xfrm>
            <a:off x="6217920" y="3108960"/>
            <a:ext cx="5486400" cy="457200"/>
          </a:xfrm>
          <a:prstGeom prst="rect">
            <a:avLst/>
          </a:prstGeom>
          <a:noFill/>
        </p:spPr>
        <p:txBody>
          <a:bodyPr wrap="square">
            <a:spAutoFit/>
          </a:bodyPr>
          <a:lstStyle/>
          <a:p>
            <a:pPr>
              <a:spcAft>
                <a:spcPts val="600"/>
              </a:spcAft>
              <a:defRPr sz="1600" b="1">
                <a:solidFill>
                  <a:srgbClr val="16A34A"/>
                </a:solidFill>
              </a:defRPr>
            </a:pPr>
            <a:r>
              <a:t>Skills</a:t>
            </a:r>
          </a:p>
        </p:txBody>
      </p:sp>
      <p:sp>
        <p:nvSpPr>
          <p:cNvPr id="10" name="TextBox 9"/>
          <p:cNvSpPr txBox="1"/>
          <p:nvPr/>
        </p:nvSpPr>
        <p:spPr>
          <a:xfrm>
            <a:off x="6217920" y="3611880"/>
            <a:ext cx="5486400" cy="2743200"/>
          </a:xfrm>
          <a:prstGeom prst="rect">
            <a:avLst/>
          </a:prstGeom>
          <a:noFill/>
        </p:spPr>
        <p:txBody>
          <a:bodyPr wrap="square">
            <a:spAutoFit/>
          </a:bodyPr>
          <a:lstStyle/>
          <a:p>
            <a:pPr>
              <a:spcAft>
                <a:spcPts val="600"/>
              </a:spcAft>
              <a:defRPr sz="1400">
                <a:solidFill>
                  <a:srgbClr val="333947"/>
                </a:solidFill>
              </a:defRPr>
            </a:pPr>
            <a:r>
              <a:t>•  On-demand, when topic matches description</a:t>
            </a:r>
          </a:p>
          <a:p>
            <a:pPr>
              <a:spcAft>
                <a:spcPts val="600"/>
              </a:spcAft>
              <a:defRPr sz="1400">
                <a:solidFill>
                  <a:srgbClr val="333947"/>
                </a:solidFill>
              </a:defRPr>
            </a:pPr>
            <a:r>
              <a:t>•  Step-by-step workflows</a:t>
            </a:r>
          </a:p>
          <a:p>
            <a:pPr>
              <a:spcAft>
                <a:spcPts val="600"/>
              </a:spcAft>
              <a:defRPr sz="1400">
                <a:solidFill>
                  <a:srgbClr val="333947"/>
                </a:solidFill>
              </a:defRPr>
            </a:pPr>
            <a:r>
              <a:t>•  Can be longer (steps, formulas, output specs)</a:t>
            </a:r>
          </a:p>
          <a:p>
            <a:pPr>
              <a:spcAft>
                <a:spcPts val="600"/>
              </a:spcAft>
              <a:defRPr sz="1400">
                <a:solidFill>
                  <a:srgbClr val="333947"/>
                </a:solidFill>
              </a:defRPr>
            </a:pPr>
            <a:r>
              <a:t>•  Loaded when prompt triggers them</a:t>
            </a:r>
          </a:p>
          <a:p>
            <a:pPr>
              <a:spcAft>
                <a:spcPts val="600"/>
              </a:spcAft>
              <a:defRPr sz="1400">
                <a:solidFill>
                  <a:srgbClr val="333947"/>
                </a:solidFill>
              </a:defRPr>
            </a:pPr>
            <a:r>
              <a:t>•  Analogy: standard operating procedure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0972800" cy="365760"/>
          </a:xfrm>
          <a:prstGeom prst="rect">
            <a:avLst/>
          </a:prstGeom>
          <a:noFill/>
        </p:spPr>
        <p:txBody>
          <a:bodyPr wrap="none">
            <a:spAutoFit/>
          </a:bodyPr>
          <a:lstStyle/>
          <a:p>
            <a:pPr>
              <a:defRPr sz="1200" b="1">
                <a:solidFill>
                  <a:srgbClr val="2D6CDF"/>
                </a:solidFill>
              </a:defRPr>
            </a:pPr>
            <a:r>
              <a:t>ROUND 3 · LIVE CODING</a:t>
            </a:r>
          </a:p>
        </p:txBody>
      </p:sp>
      <p:sp>
        <p:nvSpPr>
          <p:cNvPr id="3" name="TextBox 2"/>
          <p:cNvSpPr txBox="1"/>
          <p:nvPr/>
        </p:nvSpPr>
        <p:spPr>
          <a:xfrm>
            <a:off x="457200" y="640080"/>
            <a:ext cx="11247120" cy="914400"/>
          </a:xfrm>
          <a:prstGeom prst="rect">
            <a:avLst/>
          </a:prstGeom>
          <a:noFill/>
        </p:spPr>
        <p:txBody>
          <a:bodyPr wrap="none">
            <a:spAutoFit/>
          </a:bodyPr>
          <a:lstStyle/>
          <a:p>
            <a:pPr>
              <a:defRPr sz="3000" b="1">
                <a:solidFill>
                  <a:srgbClr val="141B2D"/>
                </a:solidFill>
              </a:defRPr>
            </a:pPr>
            <a:r>
              <a:t>Building a Skill in 90 seconds</a:t>
            </a:r>
          </a:p>
        </p:txBody>
      </p:sp>
      <p:sp>
        <p:nvSpPr>
          <p:cNvPr id="4" name="TextBox 3"/>
          <p:cNvSpPr txBox="1"/>
          <p:nvPr/>
        </p:nvSpPr>
        <p:spPr>
          <a:xfrm>
            <a:off x="457200" y="1691640"/>
            <a:ext cx="11247120" cy="365760"/>
          </a:xfrm>
          <a:prstGeom prst="rect">
            <a:avLst/>
          </a:prstGeom>
          <a:noFill/>
        </p:spPr>
        <p:txBody>
          <a:bodyPr wrap="square">
            <a:spAutoFit/>
          </a:bodyPr>
          <a:lstStyle/>
          <a:p>
            <a:pPr>
              <a:spcAft>
                <a:spcPts val="600"/>
              </a:spcAft>
              <a:defRPr sz="1400" b="1">
                <a:solidFill>
                  <a:srgbClr val="2D6CDF"/>
                </a:solidFill>
              </a:defRPr>
            </a:pPr>
            <a:r>
              <a:t>File: .cursor/skills/campaign-roi/SKILL.md</a:t>
            </a:r>
          </a:p>
        </p:txBody>
      </p:sp>
      <p:sp>
        <p:nvSpPr>
          <p:cNvPr id="5" name="Rounded Rectangle 4"/>
          <p:cNvSpPr/>
          <p:nvPr/>
        </p:nvSpPr>
        <p:spPr>
          <a:xfrm>
            <a:off x="457200" y="2103120"/>
            <a:ext cx="11247120" cy="4114800"/>
          </a:xfrm>
          <a:prstGeom prst="roundRect">
            <a:avLst>
              <a:gd name="adj" fmla="val 4000"/>
            </a:avLst>
          </a:prstGeom>
          <a:solidFill>
            <a:srgbClr val="F3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2194560"/>
            <a:ext cx="10972800" cy="3931920"/>
          </a:xfrm>
          <a:prstGeom prst="rect">
            <a:avLst/>
          </a:prstGeom>
          <a:noFill/>
        </p:spPr>
        <p:txBody>
          <a:bodyPr wrap="square">
            <a:spAutoFit/>
          </a:bodyPr>
          <a:lstStyle/>
          <a:p>
            <a:pPr>
              <a:spcAft>
                <a:spcPts val="0"/>
              </a:spcAft>
              <a:defRPr sz="1200">
                <a:solidFill>
                  <a:srgbClr val="1F2937"/>
                </a:solidFill>
                <a:latin typeface="Consolas"/>
              </a:defRPr>
            </a:pPr>
            <a:r>
              <a:t>---</a:t>
            </a:r>
          </a:p>
          <a:p>
            <a:pPr>
              <a:spcAft>
                <a:spcPts val="0"/>
              </a:spcAft>
              <a:defRPr sz="1200">
                <a:solidFill>
                  <a:srgbClr val="1F2937"/>
                </a:solidFill>
                <a:latin typeface="Consolas"/>
              </a:defRPr>
            </a:pPr>
            <a:r>
              <a:t>name: campaign-roi</a:t>
            </a:r>
          </a:p>
          <a:p>
            <a:pPr>
              <a:spcAft>
                <a:spcPts val="0"/>
              </a:spcAft>
              <a:defRPr sz="1200">
                <a:solidFill>
                  <a:srgbClr val="1F2937"/>
                </a:solidFill>
                <a:latin typeface="Consolas"/>
              </a:defRPr>
            </a:pPr>
            <a:r>
              <a:t>description: Use when the user asks about acquisition campaign ROI,</a:t>
            </a:r>
          </a:p>
          <a:p>
            <a:pPr>
              <a:spcAft>
                <a:spcPts val="0"/>
              </a:spcAft>
              <a:defRPr sz="1200">
                <a:solidFill>
                  <a:srgbClr val="1F2937"/>
                </a:solidFill>
                <a:latin typeface="Consolas"/>
              </a:defRPr>
            </a:pPr>
            <a:r>
              <a:t>  $2M, test vs control, connect rate, or cost per connect.</a:t>
            </a:r>
          </a:p>
          <a:p>
            <a:pPr>
              <a:spcAft>
                <a:spcPts val="0"/>
              </a:spcAft>
              <a:defRPr sz="1200">
                <a:solidFill>
                  <a:srgbClr val="1F2937"/>
                </a:solidFill>
                <a:latin typeface="Consolas"/>
              </a:defRPr>
            </a:pPr>
            <a:r>
              <a:t>---</a:t>
            </a:r>
          </a:p>
          <a:p>
            <a:pPr>
              <a:spcAft>
                <a:spcPts val="0"/>
              </a:spcAft>
              <a:defRPr sz="1200">
                <a:solidFill>
                  <a:srgbClr val="1F2937"/>
                </a:solidFill>
                <a:latin typeface="Consolas"/>
              </a:defRPr>
            </a:pPr>
            <a:r>
              <a:t> </a:t>
            </a:r>
          </a:p>
          <a:p>
            <a:pPr>
              <a:spcAft>
                <a:spcPts val="0"/>
              </a:spcAft>
              <a:defRPr sz="1200">
                <a:solidFill>
                  <a:srgbClr val="1F2937"/>
                </a:solidFill>
                <a:latin typeface="Consolas"/>
              </a:defRPr>
            </a:pPr>
            <a:r>
              <a:t># Campaign ROI playbook</a:t>
            </a:r>
          </a:p>
          <a:p>
            <a:pPr>
              <a:spcAft>
                <a:spcPts val="0"/>
              </a:spcAft>
              <a:defRPr sz="1200">
                <a:solidFill>
                  <a:srgbClr val="1F2937"/>
                </a:solidFill>
                <a:latin typeface="Consolas"/>
              </a:defRPr>
            </a:pPr>
            <a:r>
              <a:t> </a:t>
            </a:r>
          </a:p>
          <a:p>
            <a:pPr>
              <a:spcAft>
                <a:spcPts val="0"/>
              </a:spcAft>
              <a:defRPr sz="1200">
                <a:solidFill>
                  <a:srgbClr val="1F2937"/>
                </a:solidFill>
                <a:latin typeface="Consolas"/>
              </a:defRPr>
            </a:pPr>
            <a:r>
              <a:t>## Steps</a:t>
            </a:r>
          </a:p>
          <a:p>
            <a:pPr>
              <a:spcAft>
                <a:spcPts val="0"/>
              </a:spcAft>
              <a:defRPr sz="1200">
                <a:solidFill>
                  <a:srgbClr val="1F2937"/>
                </a:solidFill>
                <a:latin typeface="Consolas"/>
              </a:defRPr>
            </a:pPr>
            <a:r>
              <a:t>1. Load demo_campaigns.csv. Compute connect rate by channel × group.</a:t>
            </a:r>
          </a:p>
          <a:p>
            <a:pPr>
              <a:spcAft>
                <a:spcPts val="0"/>
              </a:spcAft>
              <a:defRPr sz="1200">
                <a:solidFill>
                  <a:srgbClr val="1F2937"/>
                </a:solidFill>
                <a:latin typeface="Consolas"/>
              </a:defRPr>
            </a:pPr>
            <a:r>
              <a:t>2. Incremental lift = test rate − control rate.</a:t>
            </a:r>
          </a:p>
          <a:p>
            <a:pPr>
              <a:spcAft>
                <a:spcPts val="0"/>
              </a:spcAft>
              <a:defRPr sz="1200">
                <a:solidFill>
                  <a:srgbClr val="1F2937"/>
                </a:solidFill>
                <a:latin typeface="Consolas"/>
              </a:defRPr>
            </a:pPr>
            <a:r>
              <a:t>3. Test cost: door_to_door × $80 + digital_ads × $15.</a:t>
            </a:r>
          </a:p>
          <a:p>
            <a:pPr>
              <a:spcAft>
                <a:spcPts val="0"/>
              </a:spcAft>
              <a:defRPr sz="1200">
                <a:solidFill>
                  <a:srgbClr val="1F2937"/>
                </a:solidFill>
                <a:latin typeface="Consolas"/>
              </a:defRPr>
            </a:pPr>
            <a:r>
              <a:t>4. Project $2M at the same channel mix.</a:t>
            </a:r>
          </a:p>
          <a:p>
            <a:pPr>
              <a:spcAft>
                <a:spcPts val="0"/>
              </a:spcAft>
              <a:defRPr sz="1200">
                <a:solidFill>
                  <a:srgbClr val="1F2937"/>
                </a:solidFill>
                <a:latin typeface="Consolas"/>
              </a:defRPr>
            </a:pPr>
            <a:r>
              <a:t>5. Year-1 revenue = incr. connects × avg monthly_revenue × 12.</a:t>
            </a:r>
          </a:p>
          <a:p>
            <a:pPr>
              <a:spcAft>
                <a:spcPts val="0"/>
              </a:spcAft>
              <a:defRPr sz="1200">
                <a:solidFill>
                  <a:srgbClr val="1F2937"/>
                </a:solidFill>
                <a:latin typeface="Consolas"/>
              </a:defRPr>
            </a:pPr>
            <a:r>
              <a:t> </a:t>
            </a:r>
          </a:p>
          <a:p>
            <a:pPr>
              <a:spcAft>
                <a:spcPts val="0"/>
              </a:spcAft>
              <a:defRPr sz="1200">
                <a:solidFill>
                  <a:srgbClr val="1F2937"/>
                </a:solidFill>
                <a:latin typeface="Consolas"/>
              </a:defRPr>
            </a:pPr>
            <a:r>
              <a:t>## Required output</a:t>
            </a:r>
          </a:p>
          <a:p>
            <a:pPr>
              <a:spcAft>
                <a:spcPts val="0"/>
              </a:spcAft>
              <a:defRPr sz="1200">
                <a:solidFill>
                  <a:srgbClr val="1F2937"/>
                </a:solidFill>
                <a:latin typeface="Consolas"/>
              </a:defRPr>
            </a:pPr>
            <a:r>
              <a:t>Table: channel | control rate | test rate | lift | cost per incr. connect.</a:t>
            </a:r>
          </a:p>
          <a:p>
            <a:pPr>
              <a:spcAft>
                <a:spcPts val="0"/>
              </a:spcAft>
              <a:defRPr sz="1200">
                <a:solidFill>
                  <a:srgbClr val="1F2937"/>
                </a:solidFill>
                <a:latin typeface="Consolas"/>
              </a:defRPr>
            </a:pPr>
            <a:r>
              <a:t>Then $2M projection block. End with one-line verdict.</a:t>
            </a:r>
          </a:p>
          <a:p>
            <a:pPr>
              <a:spcAft>
                <a:spcPts val="0"/>
              </a:spcAft>
              <a:defRPr sz="1200">
                <a:solidFill>
                  <a:srgbClr val="1F2937"/>
                </a:solidFill>
                <a:latin typeface="Consolas"/>
              </a:defRPr>
            </a:pPr>
            <a:r>
              <a:t> </a:t>
            </a:r>
          </a:p>
        </p:txBody>
      </p:sp>
      <p:sp>
        <p:nvSpPr>
          <p:cNvPr id="7" name="TextBox 6"/>
          <p:cNvSpPr txBox="1"/>
          <p:nvPr/>
        </p:nvSpPr>
        <p:spPr>
          <a:xfrm>
            <a:off x="457200" y="6309360"/>
            <a:ext cx="11247120" cy="365760"/>
          </a:xfrm>
          <a:prstGeom prst="rect">
            <a:avLst/>
          </a:prstGeom>
          <a:noFill/>
        </p:spPr>
        <p:txBody>
          <a:bodyPr wrap="square">
            <a:spAutoFit/>
          </a:bodyPr>
          <a:lstStyle/>
          <a:p>
            <a:pPr>
              <a:spcAft>
                <a:spcPts val="600"/>
              </a:spcAft>
              <a:defRPr sz="1300" b="0">
                <a:solidFill>
                  <a:srgbClr val="6B7280"/>
                </a:solidFill>
              </a:defRPr>
            </a:pPr>
            <a:r>
              <a:t>The 'description' is the trigger. Write it like the question your user would ask.</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0972800" cy="365760"/>
          </a:xfrm>
          <a:prstGeom prst="rect">
            <a:avLst/>
          </a:prstGeom>
          <a:noFill/>
        </p:spPr>
        <p:txBody>
          <a:bodyPr wrap="none">
            <a:spAutoFit/>
          </a:bodyPr>
          <a:lstStyle/>
          <a:p>
            <a:pPr>
              <a:defRPr sz="1200" b="1">
                <a:solidFill>
                  <a:srgbClr val="2D6CDF"/>
                </a:solidFill>
              </a:defRPr>
            </a:pPr>
            <a:r>
              <a:t>ROUND 3 · THE REVEAL</a:t>
            </a:r>
          </a:p>
        </p:txBody>
      </p:sp>
      <p:sp>
        <p:nvSpPr>
          <p:cNvPr id="3" name="TextBox 2"/>
          <p:cNvSpPr txBox="1"/>
          <p:nvPr/>
        </p:nvSpPr>
        <p:spPr>
          <a:xfrm>
            <a:off x="457200" y="640080"/>
            <a:ext cx="11247120" cy="914400"/>
          </a:xfrm>
          <a:prstGeom prst="rect">
            <a:avLst/>
          </a:prstGeom>
          <a:noFill/>
        </p:spPr>
        <p:txBody>
          <a:bodyPr wrap="none">
            <a:spAutoFit/>
          </a:bodyPr>
          <a:lstStyle/>
          <a:p>
            <a:pPr>
              <a:defRPr sz="3000" b="1">
                <a:solidFill>
                  <a:srgbClr val="141B2D"/>
                </a:solidFill>
              </a:defRPr>
            </a:pPr>
            <a:r>
              <a:t>Now ask the $2M question</a:t>
            </a:r>
          </a:p>
        </p:txBody>
      </p:sp>
      <p:sp>
        <p:nvSpPr>
          <p:cNvPr id="4" name="Rounded Rectangle 3"/>
          <p:cNvSpPr/>
          <p:nvPr/>
        </p:nvSpPr>
        <p:spPr>
          <a:xfrm>
            <a:off x="457200" y="1737360"/>
            <a:ext cx="11247120" cy="1280160"/>
          </a:xfrm>
          <a:prstGeom prst="roundRect">
            <a:avLst>
              <a:gd name="adj" fmla="val 4000"/>
            </a:avLst>
          </a:prstGeom>
          <a:solidFill>
            <a:srgbClr val="F3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1828800"/>
            <a:ext cx="10972800" cy="1097280"/>
          </a:xfrm>
          <a:prstGeom prst="rect">
            <a:avLst/>
          </a:prstGeom>
          <a:noFill/>
        </p:spPr>
        <p:txBody>
          <a:bodyPr wrap="square">
            <a:spAutoFit/>
          </a:bodyPr>
          <a:lstStyle/>
          <a:p>
            <a:pPr>
              <a:spcAft>
                <a:spcPts val="0"/>
              </a:spcAft>
              <a:defRPr sz="1500">
                <a:solidFill>
                  <a:srgbClr val="1F2937"/>
                </a:solidFill>
                <a:latin typeface="Consolas"/>
              </a:defRPr>
            </a:pPr>
            <a:r>
              <a:t>Growth wants $2M for acquisition campaigns.</a:t>
            </a:r>
          </a:p>
          <a:p>
            <a:pPr>
              <a:spcAft>
                <a:spcPts val="0"/>
              </a:spcAft>
              <a:defRPr sz="1500">
                <a:solidFill>
                  <a:srgbClr val="1F2937"/>
                </a:solidFill>
                <a:latin typeface="Consolas"/>
              </a:defRPr>
            </a:pPr>
            <a:r>
              <a:t>Using the campaign ROI playbook, tell me what $2M actually buys</a:t>
            </a:r>
          </a:p>
          <a:p>
            <a:pPr>
              <a:spcAft>
                <a:spcPts val="0"/>
              </a:spcAft>
              <a:defRPr sz="1500">
                <a:solidFill>
                  <a:srgbClr val="1F2937"/>
                </a:solidFill>
                <a:latin typeface="Consolas"/>
              </a:defRPr>
            </a:pPr>
            <a:r>
              <a:t>and whether the unit economics support it.</a:t>
            </a:r>
          </a:p>
        </p:txBody>
      </p:sp>
      <p:sp>
        <p:nvSpPr>
          <p:cNvPr id="6" name="TextBox 5"/>
          <p:cNvSpPr txBox="1"/>
          <p:nvPr/>
        </p:nvSpPr>
        <p:spPr>
          <a:xfrm>
            <a:off x="457200" y="3291840"/>
            <a:ext cx="11247120" cy="365760"/>
          </a:xfrm>
          <a:prstGeom prst="rect">
            <a:avLst/>
          </a:prstGeom>
          <a:noFill/>
        </p:spPr>
        <p:txBody>
          <a:bodyPr wrap="square">
            <a:spAutoFit/>
          </a:bodyPr>
          <a:lstStyle/>
          <a:p>
            <a:pPr>
              <a:spcAft>
                <a:spcPts val="600"/>
              </a:spcAft>
              <a:defRPr sz="1500" b="1">
                <a:solidFill>
                  <a:srgbClr val="16A34A"/>
                </a:solidFill>
              </a:defRPr>
            </a:pPr>
            <a:r>
              <a:t>Expected output</a:t>
            </a:r>
          </a:p>
        </p:txBody>
      </p:sp>
      <p:sp>
        <p:nvSpPr>
          <p:cNvPr id="7" name="TextBox 6"/>
          <p:cNvSpPr txBox="1"/>
          <p:nvPr/>
        </p:nvSpPr>
        <p:spPr>
          <a:xfrm>
            <a:off x="457200" y="3703320"/>
            <a:ext cx="11247120" cy="2560320"/>
          </a:xfrm>
          <a:prstGeom prst="rect">
            <a:avLst/>
          </a:prstGeom>
          <a:noFill/>
        </p:spPr>
        <p:txBody>
          <a:bodyPr wrap="square">
            <a:spAutoFit/>
          </a:bodyPr>
          <a:lstStyle/>
          <a:p>
            <a:pPr>
              <a:spcAft>
                <a:spcPts val="600"/>
              </a:spcAft>
              <a:defRPr sz="1500">
                <a:solidFill>
                  <a:srgbClr val="333947"/>
                </a:solidFill>
              </a:defRPr>
            </a:pPr>
            <a:r>
              <a:t>•  Table: control vs test connect rates per channel, lift, cost per incremental connect</a:t>
            </a:r>
          </a:p>
          <a:p>
            <a:pPr>
              <a:spcAft>
                <a:spcPts val="600"/>
              </a:spcAft>
              <a:defRPr sz="1500">
                <a:solidFill>
                  <a:srgbClr val="333947"/>
                </a:solidFill>
              </a:defRPr>
            </a:pPr>
            <a:r>
              <a:t>•  $2M → ~530 incremental connects → ~$496k Year-1 gross revenue</a:t>
            </a:r>
          </a:p>
          <a:p>
            <a:pPr>
              <a:spcAft>
                <a:spcPts val="600"/>
              </a:spcAft>
              <a:defRPr sz="1500">
                <a:solidFill>
                  <a:srgbClr val="333947"/>
                </a:solidFill>
              </a:defRPr>
            </a:pPr>
            <a:r>
              <a:t>•  Year-1 net AFTER the $2M spend → negative</a:t>
            </a:r>
          </a:p>
          <a:p>
            <a:pPr>
              <a:spcAft>
                <a:spcPts val="600"/>
              </a:spcAft>
              <a:defRPr sz="1500">
                <a:solidFill>
                  <a:srgbClr val="333947"/>
                </a:solidFill>
              </a:defRPr>
            </a:pPr>
            <a:r>
              <a:t>•  Lifetime CLV recovery ≈ breakeven</a:t>
            </a:r>
          </a:p>
          <a:p>
            <a:pPr>
              <a:spcAft>
                <a:spcPts val="600"/>
              </a:spcAft>
              <a:defRPr sz="1500">
                <a:solidFill>
                  <a:srgbClr val="333947"/>
                </a:solidFill>
              </a:defRPr>
            </a:pPr>
            <a:r>
              <a:t>•  Verdict: don't lead with $2M acquisition on these unit economics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0972800" cy="365760"/>
          </a:xfrm>
          <a:prstGeom prst="rect">
            <a:avLst/>
          </a:prstGeom>
          <a:noFill/>
        </p:spPr>
        <p:txBody>
          <a:bodyPr wrap="none">
            <a:spAutoFit/>
          </a:bodyPr>
          <a:lstStyle/>
          <a:p>
            <a:pPr>
              <a:defRPr sz="1200" b="1">
                <a:solidFill>
                  <a:srgbClr val="2D6CDF"/>
                </a:solidFill>
              </a:defRPr>
            </a:pPr>
            <a:r>
              <a:t>ROUND 4 OF 5 · BONUS CAPABILITIES</a:t>
            </a:r>
          </a:p>
        </p:txBody>
      </p:sp>
      <p:sp>
        <p:nvSpPr>
          <p:cNvPr id="3" name="TextBox 2"/>
          <p:cNvSpPr txBox="1"/>
          <p:nvPr/>
        </p:nvSpPr>
        <p:spPr>
          <a:xfrm>
            <a:off x="457200" y="640080"/>
            <a:ext cx="11247120" cy="914400"/>
          </a:xfrm>
          <a:prstGeom prst="rect">
            <a:avLst/>
          </a:prstGeom>
          <a:noFill/>
        </p:spPr>
        <p:txBody>
          <a:bodyPr wrap="none">
            <a:spAutoFit/>
          </a:bodyPr>
          <a:lstStyle/>
          <a:p>
            <a:pPr>
              <a:defRPr sz="3000" b="1">
                <a:solidFill>
                  <a:srgbClr val="141B2D"/>
                </a:solidFill>
              </a:defRPr>
            </a:pPr>
            <a:r>
              <a:t>Commands &amp; Plan mode</a:t>
            </a:r>
          </a:p>
        </p:txBody>
      </p:sp>
      <p:sp>
        <p:nvSpPr>
          <p:cNvPr id="4" name="TextBox 3"/>
          <p:cNvSpPr txBox="1"/>
          <p:nvPr/>
        </p:nvSpPr>
        <p:spPr>
          <a:xfrm>
            <a:off x="457200" y="1737360"/>
            <a:ext cx="5486400" cy="457200"/>
          </a:xfrm>
          <a:prstGeom prst="rect">
            <a:avLst/>
          </a:prstGeom>
          <a:noFill/>
        </p:spPr>
        <p:txBody>
          <a:bodyPr wrap="square">
            <a:spAutoFit/>
          </a:bodyPr>
          <a:lstStyle/>
          <a:p>
            <a:pPr>
              <a:spcAft>
                <a:spcPts val="600"/>
              </a:spcAft>
              <a:defRPr sz="1800" b="1">
                <a:solidFill>
                  <a:srgbClr val="2D6CDF"/>
                </a:solidFill>
              </a:defRPr>
            </a:pPr>
            <a:r>
              <a:t>Commands — one-shot buttons</a:t>
            </a:r>
          </a:p>
        </p:txBody>
      </p:sp>
      <p:sp>
        <p:nvSpPr>
          <p:cNvPr id="5" name="TextBox 4"/>
          <p:cNvSpPr txBox="1"/>
          <p:nvPr/>
        </p:nvSpPr>
        <p:spPr>
          <a:xfrm>
            <a:off x="457200" y="2286000"/>
            <a:ext cx="5486400" cy="914400"/>
          </a:xfrm>
          <a:prstGeom prst="rect">
            <a:avLst/>
          </a:prstGeom>
          <a:noFill/>
        </p:spPr>
        <p:txBody>
          <a:bodyPr wrap="square">
            <a:spAutoFit/>
          </a:bodyPr>
          <a:lstStyle/>
          <a:p>
            <a:pPr>
              <a:spcAft>
                <a:spcPts val="600"/>
              </a:spcAft>
              <a:defRPr sz="1400" b="0">
                <a:solidFill>
                  <a:srgbClr val="333947"/>
                </a:solidFill>
              </a:defRPr>
            </a:pPr>
            <a:r>
              <a:t>Type /name in chat to trigger a saved instruction. Use for repeatable micro-tasks: summarize, format, extract.</a:t>
            </a:r>
          </a:p>
        </p:txBody>
      </p:sp>
      <p:sp>
        <p:nvSpPr>
          <p:cNvPr id="6" name="Rounded Rectangle 5"/>
          <p:cNvSpPr/>
          <p:nvPr/>
        </p:nvSpPr>
        <p:spPr>
          <a:xfrm>
            <a:off x="457200" y="3291840"/>
            <a:ext cx="5486400" cy="2286000"/>
          </a:xfrm>
          <a:prstGeom prst="roundRect">
            <a:avLst>
              <a:gd name="adj" fmla="val 4000"/>
            </a:avLst>
          </a:prstGeom>
          <a:solidFill>
            <a:srgbClr val="F3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3383280"/>
            <a:ext cx="5212080" cy="2103120"/>
          </a:xfrm>
          <a:prstGeom prst="rect">
            <a:avLst/>
          </a:prstGeom>
          <a:noFill/>
        </p:spPr>
        <p:txBody>
          <a:bodyPr wrap="square">
            <a:spAutoFit/>
          </a:bodyPr>
          <a:lstStyle/>
          <a:p>
            <a:pPr>
              <a:spcAft>
                <a:spcPts val="0"/>
              </a:spcAft>
              <a:defRPr sz="1200">
                <a:solidFill>
                  <a:srgbClr val="1F2937"/>
                </a:solidFill>
                <a:latin typeface="Consolas"/>
              </a:defRPr>
            </a:pPr>
            <a:r>
              <a:t># /recap</a:t>
            </a:r>
          </a:p>
          <a:p>
            <a:pPr>
              <a:spcAft>
                <a:spcPts val="0"/>
              </a:spcAft>
              <a:defRPr sz="1200">
                <a:solidFill>
                  <a:srgbClr val="1F2937"/>
                </a:solidFill>
                <a:latin typeface="Consolas"/>
              </a:defRPr>
            </a:pPr>
            <a:r>
              <a:t> </a:t>
            </a:r>
          </a:p>
          <a:p>
            <a:pPr>
              <a:spcAft>
                <a:spcPts val="0"/>
              </a:spcAft>
              <a:defRPr sz="1200">
                <a:solidFill>
                  <a:srgbClr val="1F2937"/>
                </a:solidFill>
                <a:latin typeface="Consolas"/>
              </a:defRPr>
            </a:pPr>
            <a:r>
              <a:t>Output exactly:</a:t>
            </a:r>
          </a:p>
          <a:p>
            <a:pPr>
              <a:spcAft>
                <a:spcPts val="0"/>
              </a:spcAft>
              <a:defRPr sz="1200">
                <a:solidFill>
                  <a:srgbClr val="1F2937"/>
                </a:solidFill>
                <a:latin typeface="Consolas"/>
              </a:defRPr>
            </a:pPr>
            <a:r>
              <a:t>Question: …</a:t>
            </a:r>
          </a:p>
          <a:p>
            <a:pPr>
              <a:spcAft>
                <a:spcPts val="0"/>
              </a:spcAft>
              <a:defRPr sz="1200">
                <a:solidFill>
                  <a:srgbClr val="1F2937"/>
                </a:solidFill>
                <a:latin typeface="Consolas"/>
              </a:defRPr>
            </a:pPr>
            <a:r>
              <a:t>Answer: …</a:t>
            </a:r>
          </a:p>
          <a:p>
            <a:pPr>
              <a:spcAft>
                <a:spcPts val="0"/>
              </a:spcAft>
              <a:defRPr sz="1200">
                <a:solidFill>
                  <a:srgbClr val="1F2937"/>
                </a:solidFill>
                <a:latin typeface="Consolas"/>
              </a:defRPr>
            </a:pPr>
            <a:r>
              <a:t>Why we believe it: …</a:t>
            </a:r>
          </a:p>
          <a:p>
            <a:pPr>
              <a:spcAft>
                <a:spcPts val="0"/>
              </a:spcAft>
              <a:defRPr sz="1200">
                <a:solidFill>
                  <a:srgbClr val="1F2937"/>
                </a:solidFill>
                <a:latin typeface="Consolas"/>
              </a:defRPr>
            </a:pPr>
            <a:r>
              <a:t>What to verify: …</a:t>
            </a:r>
          </a:p>
        </p:txBody>
      </p:sp>
      <p:sp>
        <p:nvSpPr>
          <p:cNvPr id="8" name="TextBox 7"/>
          <p:cNvSpPr txBox="1"/>
          <p:nvPr/>
        </p:nvSpPr>
        <p:spPr>
          <a:xfrm>
            <a:off x="457200" y="5715000"/>
            <a:ext cx="5486400" cy="365760"/>
          </a:xfrm>
          <a:prstGeom prst="rect">
            <a:avLst/>
          </a:prstGeom>
          <a:noFill/>
        </p:spPr>
        <p:txBody>
          <a:bodyPr wrap="square">
            <a:spAutoFit/>
          </a:bodyPr>
          <a:lstStyle/>
          <a:p>
            <a:pPr>
              <a:spcAft>
                <a:spcPts val="600"/>
              </a:spcAft>
              <a:defRPr sz="1200" b="0">
                <a:solidFill>
                  <a:srgbClr val="6B7280"/>
                </a:solidFill>
              </a:defRPr>
            </a:pPr>
            <a:r>
              <a:t>Lives in .cursor/commands/recap.md</a:t>
            </a:r>
          </a:p>
        </p:txBody>
      </p:sp>
      <p:sp>
        <p:nvSpPr>
          <p:cNvPr id="9" name="TextBox 8"/>
          <p:cNvSpPr txBox="1"/>
          <p:nvPr/>
        </p:nvSpPr>
        <p:spPr>
          <a:xfrm>
            <a:off x="6217920" y="1737360"/>
            <a:ext cx="5486400" cy="457200"/>
          </a:xfrm>
          <a:prstGeom prst="rect">
            <a:avLst/>
          </a:prstGeom>
          <a:noFill/>
        </p:spPr>
        <p:txBody>
          <a:bodyPr wrap="square">
            <a:spAutoFit/>
          </a:bodyPr>
          <a:lstStyle/>
          <a:p>
            <a:pPr>
              <a:spcAft>
                <a:spcPts val="600"/>
              </a:spcAft>
              <a:defRPr sz="1800" b="1">
                <a:solidFill>
                  <a:srgbClr val="16A34A"/>
                </a:solidFill>
              </a:defRPr>
            </a:pPr>
            <a:r>
              <a:t>Plan mode — design before execution</a:t>
            </a:r>
          </a:p>
        </p:txBody>
      </p:sp>
      <p:sp>
        <p:nvSpPr>
          <p:cNvPr id="10" name="TextBox 9"/>
          <p:cNvSpPr txBox="1"/>
          <p:nvPr/>
        </p:nvSpPr>
        <p:spPr>
          <a:xfrm>
            <a:off x="6217920" y="2286000"/>
            <a:ext cx="5486400" cy="914400"/>
          </a:xfrm>
          <a:prstGeom prst="rect">
            <a:avLst/>
          </a:prstGeom>
          <a:noFill/>
        </p:spPr>
        <p:txBody>
          <a:bodyPr wrap="square">
            <a:spAutoFit/>
          </a:bodyPr>
          <a:lstStyle/>
          <a:p>
            <a:pPr>
              <a:spcAft>
                <a:spcPts val="600"/>
              </a:spcAft>
              <a:defRPr sz="1400" b="0">
                <a:solidFill>
                  <a:srgbClr val="333947"/>
                </a:solidFill>
              </a:defRPr>
            </a:pPr>
            <a:r>
              <a:t>Agent proposes the steps first, asks before doing the work. Use for multi-step or high-stakes tasks.</a:t>
            </a:r>
          </a:p>
        </p:txBody>
      </p:sp>
      <p:sp>
        <p:nvSpPr>
          <p:cNvPr id="11" name="Rounded Rectangle 10"/>
          <p:cNvSpPr/>
          <p:nvPr/>
        </p:nvSpPr>
        <p:spPr>
          <a:xfrm>
            <a:off x="6217920" y="3291840"/>
            <a:ext cx="5486400" cy="2286000"/>
          </a:xfrm>
          <a:prstGeom prst="roundRect">
            <a:avLst>
              <a:gd name="adj" fmla="val 4000"/>
            </a:avLst>
          </a:prstGeom>
          <a:solidFill>
            <a:srgbClr val="F3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55080" y="3383280"/>
            <a:ext cx="5212080" cy="2103120"/>
          </a:xfrm>
          <a:prstGeom prst="rect">
            <a:avLst/>
          </a:prstGeom>
          <a:noFill/>
        </p:spPr>
        <p:txBody>
          <a:bodyPr wrap="square">
            <a:spAutoFit/>
          </a:bodyPr>
          <a:lstStyle/>
          <a:p>
            <a:pPr>
              <a:spcAft>
                <a:spcPts val="0"/>
              </a:spcAft>
              <a:defRPr sz="1200">
                <a:solidFill>
                  <a:srgbClr val="1F2937"/>
                </a:solidFill>
                <a:latin typeface="Consolas"/>
              </a:defRPr>
            </a:pPr>
            <a:r>
              <a:t>[Plan mode prompt]</a:t>
            </a:r>
          </a:p>
          <a:p>
            <a:pPr>
              <a:spcAft>
                <a:spcPts val="0"/>
              </a:spcAft>
              <a:defRPr sz="1200">
                <a:solidFill>
                  <a:srgbClr val="1F2937"/>
                </a:solidFill>
                <a:latin typeface="Consolas"/>
              </a:defRPr>
            </a:pPr>
            <a:r>
              <a:t> </a:t>
            </a:r>
          </a:p>
          <a:p>
            <a:pPr>
              <a:spcAft>
                <a:spcPts val="0"/>
              </a:spcAft>
              <a:defRPr sz="1200">
                <a:solidFill>
                  <a:srgbClr val="1F2937"/>
                </a:solidFill>
                <a:latin typeface="Consolas"/>
              </a:defRPr>
            </a:pPr>
            <a:r>
              <a:t>Plan a multi-step analysis</a:t>
            </a:r>
          </a:p>
          <a:p>
            <a:pPr>
              <a:spcAft>
                <a:spcPts val="0"/>
              </a:spcAft>
              <a:defRPr sz="1200">
                <a:solidFill>
                  <a:srgbClr val="1F2937"/>
                </a:solidFill>
                <a:latin typeface="Consolas"/>
              </a:defRPr>
            </a:pPr>
            <a:r>
              <a:t>to identify subscribers most</a:t>
            </a:r>
          </a:p>
          <a:p>
            <a:pPr>
              <a:spcAft>
                <a:spcPts val="0"/>
              </a:spcAft>
              <a:defRPr sz="1200">
                <a:solidFill>
                  <a:srgbClr val="1F2937"/>
                </a:solidFill>
                <a:latin typeface="Consolas"/>
              </a:defRPr>
            </a:pPr>
            <a:r>
              <a:t>at risk of voluntary churn</a:t>
            </a:r>
          </a:p>
          <a:p>
            <a:pPr>
              <a:spcAft>
                <a:spcPts val="0"/>
              </a:spcAft>
              <a:defRPr sz="1200">
                <a:solidFill>
                  <a:srgbClr val="1F2937"/>
                </a:solidFill>
                <a:latin typeface="Consolas"/>
              </a:defRPr>
            </a:pPr>
            <a:r>
              <a:t>in the next 60 days.</a:t>
            </a:r>
          </a:p>
          <a:p>
            <a:pPr>
              <a:spcAft>
                <a:spcPts val="0"/>
              </a:spcAft>
              <a:defRPr sz="1200">
                <a:solidFill>
                  <a:srgbClr val="1F2937"/>
                </a:solidFill>
                <a:latin typeface="Consolas"/>
              </a:defRPr>
            </a:pPr>
            <a:r>
              <a:t> </a:t>
            </a:r>
          </a:p>
          <a:p>
            <a:pPr>
              <a:spcAft>
                <a:spcPts val="0"/>
              </a:spcAft>
              <a:defRPr sz="1200">
                <a:solidFill>
                  <a:srgbClr val="1F2937"/>
                </a:solidFill>
                <a:latin typeface="Consolas"/>
              </a:defRPr>
            </a:pPr>
            <a:r>
              <a:t>Don't execute yet.</a:t>
            </a:r>
          </a:p>
        </p:txBody>
      </p:sp>
      <p:sp>
        <p:nvSpPr>
          <p:cNvPr id="13" name="TextBox 12"/>
          <p:cNvSpPr txBox="1"/>
          <p:nvPr/>
        </p:nvSpPr>
        <p:spPr>
          <a:xfrm>
            <a:off x="6217920" y="5715000"/>
            <a:ext cx="5486400" cy="365760"/>
          </a:xfrm>
          <a:prstGeom prst="rect">
            <a:avLst/>
          </a:prstGeom>
          <a:noFill/>
        </p:spPr>
        <p:txBody>
          <a:bodyPr wrap="square">
            <a:spAutoFit/>
          </a:bodyPr>
          <a:lstStyle/>
          <a:p>
            <a:pPr>
              <a:spcAft>
                <a:spcPts val="600"/>
              </a:spcAft>
              <a:defRPr sz="1200" b="0">
                <a:solidFill>
                  <a:srgbClr val="6B7280"/>
                </a:solidFill>
              </a:defRPr>
            </a:pPr>
            <a:r>
              <a:t>Switch via the chat mode dropdown.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0972800" cy="365760"/>
          </a:xfrm>
          <a:prstGeom prst="rect">
            <a:avLst/>
          </a:prstGeom>
          <a:noFill/>
        </p:spPr>
        <p:txBody>
          <a:bodyPr wrap="none">
            <a:spAutoFit/>
          </a:bodyPr>
          <a:lstStyle/>
          <a:p>
            <a:pPr>
              <a:defRPr sz="1200" b="1">
                <a:solidFill>
                  <a:srgbClr val="2D6CDF"/>
                </a:solidFill>
              </a:defRPr>
            </a:pPr>
            <a:r>
              <a:t>ROUND 5 OF 5 · THE FINALE</a:t>
            </a:r>
          </a:p>
        </p:txBody>
      </p:sp>
      <p:sp>
        <p:nvSpPr>
          <p:cNvPr id="3" name="TextBox 2"/>
          <p:cNvSpPr txBox="1"/>
          <p:nvPr/>
        </p:nvSpPr>
        <p:spPr>
          <a:xfrm>
            <a:off x="457200" y="640080"/>
            <a:ext cx="11247120" cy="914400"/>
          </a:xfrm>
          <a:prstGeom prst="rect">
            <a:avLst/>
          </a:prstGeom>
          <a:noFill/>
        </p:spPr>
        <p:txBody>
          <a:bodyPr wrap="none">
            <a:spAutoFit/>
          </a:bodyPr>
          <a:lstStyle/>
          <a:p>
            <a:pPr>
              <a:defRPr sz="3000" b="1">
                <a:solidFill>
                  <a:srgbClr val="141B2D"/>
                </a:solidFill>
              </a:defRPr>
            </a:pPr>
            <a:r>
              <a:t>Where should the $2M actually go?</a:t>
            </a:r>
          </a:p>
        </p:txBody>
      </p:sp>
      <p:sp>
        <p:nvSpPr>
          <p:cNvPr id="4" name="TextBox 3"/>
          <p:cNvSpPr txBox="1"/>
          <p:nvPr/>
        </p:nvSpPr>
        <p:spPr>
          <a:xfrm>
            <a:off x="457200" y="1691640"/>
            <a:ext cx="11247120" cy="457200"/>
          </a:xfrm>
          <a:prstGeom prst="rect">
            <a:avLst/>
          </a:prstGeom>
          <a:noFill/>
        </p:spPr>
        <p:txBody>
          <a:bodyPr wrap="square">
            <a:spAutoFit/>
          </a:bodyPr>
          <a:lstStyle/>
          <a:p>
            <a:pPr>
              <a:spcAft>
                <a:spcPts val="600"/>
              </a:spcAft>
              <a:defRPr sz="1500" b="0">
                <a:solidFill>
                  <a:srgbClr val="333947"/>
                </a:solidFill>
              </a:defRPr>
            </a:pPr>
            <a:r>
              <a:t>Now load three more pre-built skills and ask the question Growth is really asking:</a:t>
            </a:r>
          </a:p>
        </p:txBody>
      </p:sp>
      <p:sp>
        <p:nvSpPr>
          <p:cNvPr id="5" name="Rounded Rectangle 4"/>
          <p:cNvSpPr/>
          <p:nvPr/>
        </p:nvSpPr>
        <p:spPr>
          <a:xfrm>
            <a:off x="457200" y="2194560"/>
            <a:ext cx="11247120" cy="1463040"/>
          </a:xfrm>
          <a:prstGeom prst="roundRect">
            <a:avLst>
              <a:gd name="adj" fmla="val 4000"/>
            </a:avLst>
          </a:prstGeom>
          <a:solidFill>
            <a:srgbClr val="F3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2286000"/>
            <a:ext cx="10972800" cy="1280160"/>
          </a:xfrm>
          <a:prstGeom prst="rect">
            <a:avLst/>
          </a:prstGeom>
          <a:noFill/>
        </p:spPr>
        <p:txBody>
          <a:bodyPr wrap="square">
            <a:spAutoFit/>
          </a:bodyPr>
          <a:lstStyle/>
          <a:p>
            <a:pPr>
              <a:spcAft>
                <a:spcPts val="0"/>
              </a:spcAft>
              <a:defRPr sz="1400">
                <a:solidFill>
                  <a:srgbClr val="1F2937"/>
                </a:solidFill>
                <a:latin typeface="Consolas"/>
              </a:defRPr>
            </a:pPr>
            <a:r>
              <a:t>We have $2M. Compare three options: acquisition campaigns,</a:t>
            </a:r>
          </a:p>
          <a:p>
            <a:pPr>
              <a:spcAft>
                <a:spcPts val="0"/>
              </a:spcAft>
              <a:defRPr sz="1400">
                <a:solidFill>
                  <a:srgbClr val="1F2937"/>
                </a:solidFill>
                <a:latin typeface="Consolas"/>
              </a:defRPr>
            </a:pPr>
            <a:r>
              <a:t>voluntary churn prevention, and repeat-call reduction.</a:t>
            </a:r>
          </a:p>
          <a:p>
            <a:pPr>
              <a:spcAft>
                <a:spcPts val="0"/>
              </a:spcAft>
              <a:defRPr sz="1400">
                <a:solidFill>
                  <a:srgbClr val="1F2937"/>
                </a:solidFill>
                <a:latin typeface="Consolas"/>
              </a:defRPr>
            </a:pPr>
            <a:r>
              <a:t>Annual value, confidence, time to impact, key risk — then recommend.</a:t>
            </a:r>
          </a:p>
        </p:txBody>
      </p:sp>
      <p:sp>
        <p:nvSpPr>
          <p:cNvPr id="7" name="TextBox 6"/>
          <p:cNvSpPr txBox="1"/>
          <p:nvPr/>
        </p:nvSpPr>
        <p:spPr>
          <a:xfrm>
            <a:off x="457200" y="3840480"/>
            <a:ext cx="11247120" cy="457200"/>
          </a:xfrm>
          <a:prstGeom prst="rect">
            <a:avLst/>
          </a:prstGeom>
          <a:noFill/>
        </p:spPr>
        <p:txBody>
          <a:bodyPr wrap="square">
            <a:spAutoFit/>
          </a:bodyPr>
          <a:lstStyle/>
          <a:p>
            <a:pPr>
              <a:spcAft>
                <a:spcPts val="600"/>
              </a:spcAft>
              <a:defRPr sz="1500" b="1">
                <a:solidFill>
                  <a:srgbClr val="16A34A"/>
                </a:solidFill>
              </a:defRPr>
            </a:pPr>
            <a:r>
              <a:t>Expected output</a:t>
            </a:r>
          </a:p>
        </p:txBody>
      </p:sp>
      <p:sp>
        <p:nvSpPr>
          <p:cNvPr id="8" name="TextBox 7"/>
          <p:cNvSpPr txBox="1"/>
          <p:nvPr/>
        </p:nvSpPr>
        <p:spPr>
          <a:xfrm>
            <a:off x="640080" y="4297680"/>
            <a:ext cx="4114800" cy="457200"/>
          </a:xfrm>
          <a:prstGeom prst="rect">
            <a:avLst/>
          </a:prstGeom>
          <a:noFill/>
        </p:spPr>
        <p:txBody>
          <a:bodyPr wrap="square">
            <a:spAutoFit/>
          </a:bodyPr>
          <a:lstStyle/>
          <a:p>
            <a:pPr>
              <a:spcAft>
                <a:spcPts val="600"/>
              </a:spcAft>
              <a:defRPr sz="1400" b="1">
                <a:solidFill>
                  <a:srgbClr val="141B2D"/>
                </a:solidFill>
              </a:defRPr>
            </a:pPr>
            <a:r>
              <a:t>Acquisition</a:t>
            </a:r>
          </a:p>
        </p:txBody>
      </p:sp>
      <p:sp>
        <p:nvSpPr>
          <p:cNvPr id="9" name="TextBox 8"/>
          <p:cNvSpPr txBox="1"/>
          <p:nvPr/>
        </p:nvSpPr>
        <p:spPr>
          <a:xfrm>
            <a:off x="4937760" y="4297680"/>
            <a:ext cx="6858000" cy="457200"/>
          </a:xfrm>
          <a:prstGeom prst="rect">
            <a:avLst/>
          </a:prstGeom>
          <a:noFill/>
        </p:spPr>
        <p:txBody>
          <a:bodyPr wrap="square">
            <a:spAutoFit/>
          </a:bodyPr>
          <a:lstStyle/>
          <a:p>
            <a:pPr>
              <a:spcAft>
                <a:spcPts val="600"/>
              </a:spcAft>
              <a:defRPr sz="1300" b="0">
                <a:solidFill>
                  <a:srgbClr val="DC2626"/>
                </a:solidFill>
              </a:defRPr>
            </a:pPr>
            <a:r>
              <a:t>~$496k Year-1 gross · NEGATIVE Year-1 net</a:t>
            </a:r>
          </a:p>
        </p:txBody>
      </p:sp>
      <p:sp>
        <p:nvSpPr>
          <p:cNvPr id="10" name="TextBox 9"/>
          <p:cNvSpPr txBox="1"/>
          <p:nvPr/>
        </p:nvSpPr>
        <p:spPr>
          <a:xfrm>
            <a:off x="640080" y="4800600"/>
            <a:ext cx="4114800" cy="457200"/>
          </a:xfrm>
          <a:prstGeom prst="rect">
            <a:avLst/>
          </a:prstGeom>
          <a:noFill/>
        </p:spPr>
        <p:txBody>
          <a:bodyPr wrap="square">
            <a:spAutoFit/>
          </a:bodyPr>
          <a:lstStyle/>
          <a:p>
            <a:pPr>
              <a:spcAft>
                <a:spcPts val="600"/>
              </a:spcAft>
              <a:defRPr sz="1400" b="1">
                <a:solidFill>
                  <a:srgbClr val="141B2D"/>
                </a:solidFill>
              </a:defRPr>
            </a:pPr>
            <a:r>
              <a:t>Churn prevention (voluntary, fiber ZIPs)</a:t>
            </a:r>
          </a:p>
        </p:txBody>
      </p:sp>
      <p:sp>
        <p:nvSpPr>
          <p:cNvPr id="11" name="TextBox 10"/>
          <p:cNvSpPr txBox="1"/>
          <p:nvPr/>
        </p:nvSpPr>
        <p:spPr>
          <a:xfrm>
            <a:off x="4937760" y="4800600"/>
            <a:ext cx="6858000" cy="457200"/>
          </a:xfrm>
          <a:prstGeom prst="rect">
            <a:avLst/>
          </a:prstGeom>
          <a:noFill/>
        </p:spPr>
        <p:txBody>
          <a:bodyPr wrap="square">
            <a:spAutoFit/>
          </a:bodyPr>
          <a:lstStyle/>
          <a:p>
            <a:pPr>
              <a:spcAft>
                <a:spcPts val="600"/>
              </a:spcAft>
              <a:defRPr sz="1300" b="0">
                <a:solidFill>
                  <a:srgbClr val="16A34A"/>
                </a:solidFill>
              </a:defRPr>
            </a:pPr>
            <a:r>
              <a:t>~$2.6–3.0M net annualized</a:t>
            </a:r>
          </a:p>
        </p:txBody>
      </p:sp>
      <p:sp>
        <p:nvSpPr>
          <p:cNvPr id="12" name="TextBox 11"/>
          <p:cNvSpPr txBox="1"/>
          <p:nvPr/>
        </p:nvSpPr>
        <p:spPr>
          <a:xfrm>
            <a:off x="640080" y="5303520"/>
            <a:ext cx="4114800" cy="457200"/>
          </a:xfrm>
          <a:prstGeom prst="rect">
            <a:avLst/>
          </a:prstGeom>
          <a:noFill/>
        </p:spPr>
        <p:txBody>
          <a:bodyPr wrap="square">
            <a:spAutoFit/>
          </a:bodyPr>
          <a:lstStyle/>
          <a:p>
            <a:pPr>
              <a:spcAft>
                <a:spcPts val="600"/>
              </a:spcAft>
              <a:defRPr sz="1400" b="1">
                <a:solidFill>
                  <a:srgbClr val="141B2D"/>
                </a:solidFill>
              </a:defRPr>
            </a:pPr>
            <a:r>
              <a:t>Repeat-call reduction</a:t>
            </a:r>
          </a:p>
        </p:txBody>
      </p:sp>
      <p:sp>
        <p:nvSpPr>
          <p:cNvPr id="13" name="TextBox 12"/>
          <p:cNvSpPr txBox="1"/>
          <p:nvPr/>
        </p:nvSpPr>
        <p:spPr>
          <a:xfrm>
            <a:off x="4937760" y="5303520"/>
            <a:ext cx="6858000" cy="457200"/>
          </a:xfrm>
          <a:prstGeom prst="rect">
            <a:avLst/>
          </a:prstGeom>
          <a:noFill/>
        </p:spPr>
        <p:txBody>
          <a:bodyPr wrap="square">
            <a:spAutoFit/>
          </a:bodyPr>
          <a:lstStyle/>
          <a:p>
            <a:pPr>
              <a:spcAft>
                <a:spcPts val="600"/>
              </a:spcAft>
              <a:defRPr sz="1300" b="0">
                <a:solidFill>
                  <a:srgbClr val="16A34A"/>
                </a:solidFill>
              </a:defRPr>
            </a:pPr>
            <a:r>
              <a:t>~$5.1M total ($160k direct + ~$4.9M after 50% causal)</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0972800" cy="365760"/>
          </a:xfrm>
          <a:prstGeom prst="rect">
            <a:avLst/>
          </a:prstGeom>
          <a:noFill/>
        </p:spPr>
        <p:txBody>
          <a:bodyPr wrap="none">
            <a:spAutoFit/>
          </a:bodyPr>
          <a:lstStyle/>
          <a:p>
            <a:pPr>
              <a:defRPr sz="1200" b="1">
                <a:solidFill>
                  <a:srgbClr val="2D6CDF"/>
                </a:solidFill>
              </a:defRPr>
            </a:pPr>
            <a:r>
              <a:t>TAKE-HOME</a:t>
            </a:r>
          </a:p>
        </p:txBody>
      </p:sp>
      <p:sp>
        <p:nvSpPr>
          <p:cNvPr id="3" name="TextBox 2"/>
          <p:cNvSpPr txBox="1"/>
          <p:nvPr/>
        </p:nvSpPr>
        <p:spPr>
          <a:xfrm>
            <a:off x="457200" y="640080"/>
            <a:ext cx="11247120" cy="914400"/>
          </a:xfrm>
          <a:prstGeom prst="rect">
            <a:avLst/>
          </a:prstGeom>
          <a:noFill/>
        </p:spPr>
        <p:txBody>
          <a:bodyPr wrap="none">
            <a:spAutoFit/>
          </a:bodyPr>
          <a:lstStyle/>
          <a:p>
            <a:pPr>
              <a:defRPr sz="3000" b="1">
                <a:solidFill>
                  <a:srgbClr val="141B2D"/>
                </a:solidFill>
              </a:defRPr>
            </a:pPr>
            <a:r>
              <a:t>Five things you'll do this week in your own projects</a:t>
            </a:r>
          </a:p>
        </p:txBody>
      </p:sp>
      <p:sp>
        <p:nvSpPr>
          <p:cNvPr id="4" name="TextBox 3"/>
          <p:cNvSpPr txBox="1"/>
          <p:nvPr/>
        </p:nvSpPr>
        <p:spPr>
          <a:xfrm>
            <a:off x="457200" y="1828800"/>
            <a:ext cx="731520" cy="640080"/>
          </a:xfrm>
          <a:prstGeom prst="rect">
            <a:avLst/>
          </a:prstGeom>
          <a:noFill/>
        </p:spPr>
        <p:txBody>
          <a:bodyPr wrap="square">
            <a:spAutoFit/>
          </a:bodyPr>
          <a:lstStyle/>
          <a:p>
            <a:pPr>
              <a:spcAft>
                <a:spcPts val="600"/>
              </a:spcAft>
              <a:defRPr sz="2600" b="1">
                <a:solidFill>
                  <a:srgbClr val="2D6CDF"/>
                </a:solidFill>
              </a:defRPr>
            </a:pPr>
            <a:r>
              <a:t>1.</a:t>
            </a:r>
          </a:p>
        </p:txBody>
      </p:sp>
      <p:sp>
        <p:nvSpPr>
          <p:cNvPr id="5" name="TextBox 4"/>
          <p:cNvSpPr txBox="1"/>
          <p:nvPr/>
        </p:nvSpPr>
        <p:spPr>
          <a:xfrm>
            <a:off x="1188720" y="1901952"/>
            <a:ext cx="10515600" cy="731520"/>
          </a:xfrm>
          <a:prstGeom prst="rect">
            <a:avLst/>
          </a:prstGeom>
          <a:noFill/>
        </p:spPr>
        <p:txBody>
          <a:bodyPr wrap="square">
            <a:spAutoFit/>
          </a:bodyPr>
          <a:lstStyle/>
          <a:p>
            <a:pPr>
              <a:spcAft>
                <a:spcPts val="600"/>
              </a:spcAft>
              <a:defRPr sz="1600" b="0">
                <a:solidFill>
                  <a:srgbClr val="333947"/>
                </a:solidFill>
              </a:defRPr>
            </a:pPr>
            <a:r>
              <a:t>Open your project in Cursor. Spend 10 minutes in Agent mode exploring the data — same as we did with Metromobile.</a:t>
            </a:r>
          </a:p>
        </p:txBody>
      </p:sp>
      <p:sp>
        <p:nvSpPr>
          <p:cNvPr id="6" name="TextBox 5"/>
          <p:cNvSpPr txBox="1"/>
          <p:nvPr/>
        </p:nvSpPr>
        <p:spPr>
          <a:xfrm>
            <a:off x="457200" y="2606040"/>
            <a:ext cx="731520" cy="640080"/>
          </a:xfrm>
          <a:prstGeom prst="rect">
            <a:avLst/>
          </a:prstGeom>
          <a:noFill/>
        </p:spPr>
        <p:txBody>
          <a:bodyPr wrap="square">
            <a:spAutoFit/>
          </a:bodyPr>
          <a:lstStyle/>
          <a:p>
            <a:pPr>
              <a:spcAft>
                <a:spcPts val="600"/>
              </a:spcAft>
              <a:defRPr sz="2600" b="1">
                <a:solidFill>
                  <a:srgbClr val="2D6CDF"/>
                </a:solidFill>
              </a:defRPr>
            </a:pPr>
            <a:r>
              <a:t>2.</a:t>
            </a:r>
          </a:p>
        </p:txBody>
      </p:sp>
      <p:sp>
        <p:nvSpPr>
          <p:cNvPr id="7" name="TextBox 6"/>
          <p:cNvSpPr txBox="1"/>
          <p:nvPr/>
        </p:nvSpPr>
        <p:spPr>
          <a:xfrm>
            <a:off x="1188720" y="2679192"/>
            <a:ext cx="10515600" cy="731520"/>
          </a:xfrm>
          <a:prstGeom prst="rect">
            <a:avLst/>
          </a:prstGeom>
          <a:noFill/>
        </p:spPr>
        <p:txBody>
          <a:bodyPr wrap="square">
            <a:spAutoFit/>
          </a:bodyPr>
          <a:lstStyle/>
          <a:p>
            <a:pPr>
              <a:spcAft>
                <a:spcPts val="600"/>
              </a:spcAft>
              <a:defRPr sz="1600" b="0">
                <a:solidFill>
                  <a:srgbClr val="333947"/>
                </a:solidFill>
              </a:defRPr>
            </a:pPr>
            <a:r>
              <a:t>The third time you give the same instruction, stop. Turn it into a Rule (`.cursor/rules/yourname.mdc`).</a:t>
            </a:r>
          </a:p>
        </p:txBody>
      </p:sp>
      <p:sp>
        <p:nvSpPr>
          <p:cNvPr id="8" name="TextBox 7"/>
          <p:cNvSpPr txBox="1"/>
          <p:nvPr/>
        </p:nvSpPr>
        <p:spPr>
          <a:xfrm>
            <a:off x="457200" y="3383280"/>
            <a:ext cx="731520" cy="640080"/>
          </a:xfrm>
          <a:prstGeom prst="rect">
            <a:avLst/>
          </a:prstGeom>
          <a:noFill/>
        </p:spPr>
        <p:txBody>
          <a:bodyPr wrap="square">
            <a:spAutoFit/>
          </a:bodyPr>
          <a:lstStyle/>
          <a:p>
            <a:pPr>
              <a:spcAft>
                <a:spcPts val="600"/>
              </a:spcAft>
              <a:defRPr sz="2600" b="1">
                <a:solidFill>
                  <a:srgbClr val="2D6CDF"/>
                </a:solidFill>
              </a:defRPr>
            </a:pPr>
            <a:r>
              <a:t>3.</a:t>
            </a:r>
          </a:p>
        </p:txBody>
      </p:sp>
      <p:sp>
        <p:nvSpPr>
          <p:cNvPr id="9" name="TextBox 8"/>
          <p:cNvSpPr txBox="1"/>
          <p:nvPr/>
        </p:nvSpPr>
        <p:spPr>
          <a:xfrm>
            <a:off x="1188720" y="3456432"/>
            <a:ext cx="10515600" cy="731520"/>
          </a:xfrm>
          <a:prstGeom prst="rect">
            <a:avLst/>
          </a:prstGeom>
          <a:noFill/>
        </p:spPr>
        <p:txBody>
          <a:bodyPr wrap="square">
            <a:spAutoFit/>
          </a:bodyPr>
          <a:lstStyle/>
          <a:p>
            <a:pPr>
              <a:spcAft>
                <a:spcPts val="600"/>
              </a:spcAft>
              <a:defRPr sz="1600" b="0">
                <a:solidFill>
                  <a:srgbClr val="333947"/>
                </a:solidFill>
              </a:defRPr>
            </a:pPr>
            <a:r>
              <a:t>When you find yourself running the same analysis on different data, turn it into a Skill (`.cursor/skills/&lt;name&gt;/SKILL.md`).</a:t>
            </a:r>
          </a:p>
        </p:txBody>
      </p:sp>
      <p:sp>
        <p:nvSpPr>
          <p:cNvPr id="10" name="TextBox 9"/>
          <p:cNvSpPr txBox="1"/>
          <p:nvPr/>
        </p:nvSpPr>
        <p:spPr>
          <a:xfrm>
            <a:off x="457200" y="4160520"/>
            <a:ext cx="731520" cy="640080"/>
          </a:xfrm>
          <a:prstGeom prst="rect">
            <a:avLst/>
          </a:prstGeom>
          <a:noFill/>
        </p:spPr>
        <p:txBody>
          <a:bodyPr wrap="square">
            <a:spAutoFit/>
          </a:bodyPr>
          <a:lstStyle/>
          <a:p>
            <a:pPr>
              <a:spcAft>
                <a:spcPts val="600"/>
              </a:spcAft>
              <a:defRPr sz="2600" b="1">
                <a:solidFill>
                  <a:srgbClr val="2D6CDF"/>
                </a:solidFill>
              </a:defRPr>
            </a:pPr>
            <a:r>
              <a:t>4.</a:t>
            </a:r>
          </a:p>
        </p:txBody>
      </p:sp>
      <p:sp>
        <p:nvSpPr>
          <p:cNvPr id="11" name="TextBox 10"/>
          <p:cNvSpPr txBox="1"/>
          <p:nvPr/>
        </p:nvSpPr>
        <p:spPr>
          <a:xfrm>
            <a:off x="1188720" y="4233672"/>
            <a:ext cx="10515600" cy="731520"/>
          </a:xfrm>
          <a:prstGeom prst="rect">
            <a:avLst/>
          </a:prstGeom>
          <a:noFill/>
        </p:spPr>
        <p:txBody>
          <a:bodyPr wrap="square">
            <a:spAutoFit/>
          </a:bodyPr>
          <a:lstStyle/>
          <a:p>
            <a:pPr>
              <a:spcAft>
                <a:spcPts val="600"/>
              </a:spcAft>
              <a:defRPr sz="1600" b="0">
                <a:solidFill>
                  <a:srgbClr val="333947"/>
                </a:solidFill>
              </a:defRPr>
            </a:pPr>
            <a:r>
              <a:t>For your most frequent one-liner asks (summarize, recap, format), make a Command (`/yourname`).</a:t>
            </a:r>
          </a:p>
        </p:txBody>
      </p:sp>
      <p:sp>
        <p:nvSpPr>
          <p:cNvPr id="12" name="TextBox 11"/>
          <p:cNvSpPr txBox="1"/>
          <p:nvPr/>
        </p:nvSpPr>
        <p:spPr>
          <a:xfrm>
            <a:off x="457200" y="4937760"/>
            <a:ext cx="731520" cy="640080"/>
          </a:xfrm>
          <a:prstGeom prst="rect">
            <a:avLst/>
          </a:prstGeom>
          <a:noFill/>
        </p:spPr>
        <p:txBody>
          <a:bodyPr wrap="square">
            <a:spAutoFit/>
          </a:bodyPr>
          <a:lstStyle/>
          <a:p>
            <a:pPr>
              <a:spcAft>
                <a:spcPts val="600"/>
              </a:spcAft>
              <a:defRPr sz="2600" b="1">
                <a:solidFill>
                  <a:srgbClr val="2D6CDF"/>
                </a:solidFill>
              </a:defRPr>
            </a:pPr>
            <a:r>
              <a:t>5.</a:t>
            </a:r>
          </a:p>
        </p:txBody>
      </p:sp>
      <p:sp>
        <p:nvSpPr>
          <p:cNvPr id="13" name="TextBox 12"/>
          <p:cNvSpPr txBox="1"/>
          <p:nvPr/>
        </p:nvSpPr>
        <p:spPr>
          <a:xfrm>
            <a:off x="1188720" y="5010912"/>
            <a:ext cx="10515600" cy="731520"/>
          </a:xfrm>
          <a:prstGeom prst="rect">
            <a:avLst/>
          </a:prstGeom>
          <a:noFill/>
        </p:spPr>
        <p:txBody>
          <a:bodyPr wrap="square">
            <a:spAutoFit/>
          </a:bodyPr>
          <a:lstStyle/>
          <a:p>
            <a:pPr>
              <a:spcAft>
                <a:spcPts val="600"/>
              </a:spcAft>
              <a:defRPr sz="1600" b="0">
                <a:solidFill>
                  <a:srgbClr val="333947"/>
                </a:solidFill>
              </a:defRPr>
            </a:pPr>
            <a:r>
              <a:t>For complex multi-step work, use Plan mode first. Approve the plan. Then execute.</a:t>
            </a:r>
          </a:p>
        </p:txBody>
      </p:sp>
      <p:sp>
        <p:nvSpPr>
          <p:cNvPr id="14" name="TextBox 13"/>
          <p:cNvSpPr txBox="1"/>
          <p:nvPr/>
        </p:nvSpPr>
        <p:spPr>
          <a:xfrm>
            <a:off x="457200" y="6035040"/>
            <a:ext cx="11247120" cy="457200"/>
          </a:xfrm>
          <a:prstGeom prst="rect">
            <a:avLst/>
          </a:prstGeom>
          <a:noFill/>
        </p:spPr>
        <p:txBody>
          <a:bodyPr wrap="square">
            <a:spAutoFit/>
          </a:bodyPr>
          <a:lstStyle/>
          <a:p>
            <a:pPr>
              <a:spcAft>
                <a:spcPts val="600"/>
              </a:spcAft>
              <a:defRPr sz="1400" b="0">
                <a:solidFill>
                  <a:srgbClr val="2D6CDF"/>
                </a:solidFill>
              </a:defRPr>
            </a:pPr>
            <a:r>
              <a:t>Repo: github.com/ephemeralme/metromobile-demo-data · branch demo · everything you saw is in there.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